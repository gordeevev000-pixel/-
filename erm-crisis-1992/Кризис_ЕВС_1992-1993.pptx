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 лист" id="{1b3830d6-a9c4-739a-43ef-a88c59ba52db}">
          <p14:sldIdLst>
            <p14:sldId id="256"/>
          </p14:sldIdLst>
        </p14:section>
        <p14:section name="I. Суть и причины кризиса" id="{4c2980cb-10ec-fe3d-cb09-f8e7c89f3717}">
          <p14:sldIdLst>
            <p14:sldId id="257"/>
            <p14:sldId id="258"/>
            <p14:sldId id="259"/>
          </p14:sldIdLst>
        </p14:section>
        <p14:section name="II. Ход кризиса" id="{779090d9-2c77-c7f6-d8ca-120138d2af22}">
          <p14:sldIdLst>
            <p14:sldId id="260"/>
            <p14:sldId id="261"/>
            <p14:sldId id="262"/>
          </p14:sldIdLst>
        </p14:section>
        <p14:section name="III. Последствия и выводы" id="{30aaf0d5-605a-82cd-f3e5-0b2aa7e2e96a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2EBD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2EBDD"/>
                </a:solidFill>
                <a:latin typeface="+mn-lt"/>
              </a:rPr>
              <a:t>Базовая ставка Банка Англии после каждого решения,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Базовая ставка, %</c:v>
                </c:pt>
              </c:strCache>
            </c:strRef>
          </c:tx>
          <c:spPr>
            <a:solidFill>
              <a:srgbClr val="BD882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2EBD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8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C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88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88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88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D882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D882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D882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05.05.92</c:v>
                  </c:pt>
                  <c:pt idx="1">
                    <c:v>16.09.92</c:v>
                  </c:pt>
                  <c:pt idx="2">
                    <c:v>17.09.92</c:v>
                  </c:pt>
                  <c:pt idx="3">
                    <c:v>22.09.92</c:v>
                  </c:pt>
                  <c:pt idx="4">
                    <c:v>16.10.92</c:v>
                  </c:pt>
                  <c:pt idx="5">
                    <c:v>13.11.92</c:v>
                  </c:pt>
                  <c:pt idx="6">
                    <c:v>26.01.93</c:v>
                  </c:pt>
                  <c:pt idx="7">
                    <c:v>23.11.93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12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2EBD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4BFB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3559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96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нашего доклада — кризис Европейской валютной системы 1992–1993 годов. Распределение задач — на титульном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— что это за кризис. Кризис ЕВС — это валютный кризис. В 1992–1993 годах рынок раз за разом атаковал европейские валюты, курсы которых были жёстко привязаны друг к другу. Центральные банки тратили резервы и поднимали ставки, но удержать курсы не смогли. Это не банковский и не долговой кризис: пострадали именно курсы валют. Итог — фунт и лира вышли из системы, а коридор колебаний расширили до 15 процентов.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об устройстве системы. ЕВС создали в 1979 году, её ядро — механизм обменных курсов ERM. У каждой валюты был центральный курс и коридор: плюс-минус 2,25 процента, у некоторых — 6. На границе коридора центральные банки обязаны были без ограничений покупать слабую валюту. С 1987 года курсы не пересматривали, и рынок считал их надёжными.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Причин кризиса три. Первая — объединение Германии: расходы на восток разогнали инфляцию, и Бундесбанк поднял ставку до 8,75 процента. Остальным пришлось держать такие же высокие ставки, хотя у них был спад. Германии высокие ставки были нужны против инфляции, а Великобритании и Италии, наоборот, нужны были низкие, чтобы выйти из рецессии. Вторая — сомнения в Маастрихтском договоре: датчане его отвергли, французы одобрили еле-еле. Третья — свободное движение капитала при завышенных курсах фунта, лиры и песеты. Вывод на слайде: фиксированный курс, свободный капитал и своя денежная политика несовместимы. Передаю слово Егору.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Кризис шёл четырьмя волнами. Летом 1992-го — предвестники: отказ Дании и высокие ставки Бундесбанка. В сентябре — обвал: лиру девальвировали, а Великобритания и Италия вышли из ERM. Потом цепная реакция: девальвации песеты, эскудо и ирландского фунта. И развязка летом 1993-го — атака на французский франк.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известный эпизод — «чёрная среда», 16 сентября 1992 года. Банк Англии весь день скупал фунты и поднял ставку с 10 до 12 процентов, затем пообещал 15. Рынок не поверил: в рецессии такие ставки долго не удержать. Вечером министр финансов объявил о выходе из ERM, а ставку уже на следующий день вернули к 10 процентам. Казна потеряла около 3,3 миллиарда фунтов, а фонд Джорджа Сороса, поставивший против фунта около 10 миллиардов долларов, заработал больше миллиарда.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фунта давление перешло на другие валюты: песету девальвировали трижды, эскудо дважды, ирландский фунт — на 10 процентов. Летом 1993-го атаковали французский франк, и 2 августа ЕС расширил коридор до плюс-минус 15 процентов. Формально система сохранилась, но курсы стали почти плавающими. Передаю слово Ивану.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Великобритании выход из ERM даже помог: ставку снизили с 10 до 6 процентов, и спад закончился. Поэтому в Британии этот день иногда называют не чёрной, а «белой средой». Страна перешла к таргетированию инфляции, а в ERM так и не вернулась. Италия девальвацией поддержала экспорт, сократила дефицит бюджета и вернулась в ERM в 1996 году.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итог для Европы: при свободном движении капитала остаётся выбор только между плавающими курсами и единой валютой. ЕС выбрал единую валюту — в 1998 году появился Европейский центральный банк, в 1999-м — евро. Наш вывод: кризис вызвали не спекулянты, а противоречие между общей валютной привязкой и национальной политикой. Спекулянты лишь первыми это заметили.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 приведены на слайде. Спасибо за внимание,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0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A968F"/>
                </a:solidFill>
              </a:rPr>
              <a:t>Кризис ЕВС · 1992–1993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DDB56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spc="200" kern="0" dirty="0">
                <a:solidFill>
                  <a:srgbClr val="9A968F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1">
    <p:bg>
      <p:bgPr>
        <a:solidFill>
          <a:srgbClr val="1B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A968F"/>
                </a:solidFill>
              </a:rPr>
              <a:t>Кризис ЕВС · 1992–1993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DDB56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spc="200" kern="0" dirty="0">
                <a:solidFill>
                  <a:srgbClr val="9A968F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2">
    <p:bg>
      <p:bgPr>
        <a:solidFill>
          <a:srgbClr val="44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A968F"/>
                </a:solidFill>
              </a:rPr>
              <a:t>Кризис ЕВС · 1992–1993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DDB56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spc="200" kern="0" dirty="0">
                <a:solidFill>
                  <a:srgbClr val="9A968F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3">
    <p:bg>
      <p:bgPr>
        <a:solidFill>
          <a:srgbClr val="1B3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A968F"/>
                </a:solidFill>
              </a:rPr>
              <a:t>Кризис ЕВС · 1992–1993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DDB56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spc="200" kern="0" dirty="0">
                <a:solidFill>
                  <a:srgbClr val="9A968F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DDB56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100" spc="200" kern="0" dirty="0">
                <a:solidFill>
                  <a:srgbClr val="9A968F"/>
                </a:solidFill>
              </a:defRPr>
            </a:lvl1pPr>
          </a:lstStyle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3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5455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A968F"/>
                </a:solidFill>
              </a:rPr>
              <a:t>Кризис ЕВС · 1992–1993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DDB56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68680"/>
            <a:ext cx="7498080" cy="1965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926080"/>
            <a:ext cx="69494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C4BFB4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ильош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-1417320"/>
            <a:ext cx="5394960" cy="5394960"/>
          </a:xfrm>
          <a:prstGeom prst="rect">
            <a:avLst/>
          </a:prstGeom>
        </p:spPr>
      </p:pic>
      <p:sp>
        <p:nvSpPr>
          <p:cNvPr id="3" name="Надпись ECU"/>
          <p:cNvSpPr txBox="1"/>
          <p:nvPr/>
        </p:nvSpPr>
        <p:spPr>
          <a:xfrm>
            <a:off x="9692640" y="1033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spc="800" kern="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ECU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ДОКЛАД-ПРЕЗЕНТАЦИЯ · ГРУППА 2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548640" y="868680"/>
            <a:ext cx="7498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Кризис Европейской валютной системы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1992–1993</a:t>
            </a:r>
            <a:endParaRPr lang="en-US" sz="4400" dirty="0"/>
          </a:p>
        </p:txBody>
      </p:sp>
      <p:sp>
        <p:nvSpPr>
          <p:cNvPr id="6" name="Text 1"/>
          <p:cNvSpPr/>
          <p:nvPr>
            <p:ph idx="103" type="body" hasCustomPrompt="1"/>
          </p:nvPr>
        </p:nvSpPr>
        <p:spPr>
          <a:xfrm>
            <a:off x="548640" y="292608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4BFB4"/>
                </a:solidFill>
              </a:rPr>
              <a:t>Как механизм фиксированных курсов ERM не выдержал давления рынка: Великобритания и Италия вышли из системы, а коридор колебаний расширили с ±2,25% до ±15%.</a:t>
            </a:r>
            <a:endParaRPr lang="en-US" sz="1700" dirty="0"/>
          </a:p>
        </p:txBody>
      </p:sp>
      <p:sp>
        <p:nvSpPr>
          <p:cNvPr id="7" name="Линия участника 1"/>
          <p:cNvSpPr/>
          <p:nvPr/>
        </p:nvSpPr>
        <p:spPr>
          <a:xfrm>
            <a:off x="548640" y="4069080"/>
            <a:ext cx="345429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8" name="Раздел участника 1"/>
          <p:cNvSpPr txBox="1"/>
          <p:nvPr/>
        </p:nvSpPr>
        <p:spPr>
          <a:xfrm>
            <a:off x="548640" y="4187952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· СУТЬ И ПРИЧИНЫ КРИЗИСА</a:t>
            </a:r>
            <a:endParaRPr lang="en-US" sz="1050" dirty="0"/>
          </a:p>
        </p:txBody>
      </p:sp>
      <p:sp>
        <p:nvSpPr>
          <p:cNvPr id="9" name="Имя участника 1"/>
          <p:cNvSpPr txBox="1"/>
          <p:nvPr/>
        </p:nvSpPr>
        <p:spPr>
          <a:xfrm>
            <a:off x="548640" y="4462272"/>
            <a:ext cx="34542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Аверьянов Никита Романович</a:t>
            </a:r>
            <a:endParaRPr lang="en-US" sz="1600" dirty="0"/>
          </a:p>
        </p:txBody>
      </p:sp>
      <p:sp>
        <p:nvSpPr>
          <p:cNvPr id="10" name="Задачи участника 1"/>
          <p:cNvSpPr txBox="1"/>
          <p:nvPr/>
        </p:nvSpPr>
        <p:spPr>
          <a:xfrm>
            <a:off x="548640" y="4818888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и суть кризиса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ЕВС и механизма ERM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Германии и ставки Бундесбанка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Маастрихт и свободный капитал</a:t>
            </a:r>
            <a:endParaRPr lang="en-US" sz="1300" dirty="0"/>
          </a:p>
        </p:txBody>
      </p:sp>
      <p:sp>
        <p:nvSpPr>
          <p:cNvPr id="11" name="Слайды участника 1"/>
          <p:cNvSpPr txBox="1"/>
          <p:nvPr/>
        </p:nvSpPr>
        <p:spPr>
          <a:xfrm>
            <a:off x="548640" y="5925312"/>
            <a:ext cx="3454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02–04</a:t>
            </a:r>
            <a:endParaRPr lang="en-US" sz="1100" dirty="0"/>
          </a:p>
        </p:txBody>
      </p:sp>
      <p:sp>
        <p:nvSpPr>
          <p:cNvPr id="12" name="Линия участника 2"/>
          <p:cNvSpPr/>
          <p:nvPr/>
        </p:nvSpPr>
        <p:spPr>
          <a:xfrm>
            <a:off x="4368698" y="4069080"/>
            <a:ext cx="345429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3" name="Раздел участника 2"/>
          <p:cNvSpPr txBox="1"/>
          <p:nvPr/>
        </p:nvSpPr>
        <p:spPr>
          <a:xfrm>
            <a:off x="4368698" y="4187952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ХОД КРИЗИСА</a:t>
            </a:r>
            <a:endParaRPr lang="en-US" sz="1050" dirty="0"/>
          </a:p>
        </p:txBody>
      </p:sp>
      <p:sp>
        <p:nvSpPr>
          <p:cNvPr id="14" name="Имя участника 2"/>
          <p:cNvSpPr txBox="1"/>
          <p:nvPr/>
        </p:nvSpPr>
        <p:spPr>
          <a:xfrm>
            <a:off x="4368698" y="4462272"/>
            <a:ext cx="34542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Гордеев Егор Александрович</a:t>
            </a:r>
            <a:endParaRPr lang="en-US" sz="1600" dirty="0"/>
          </a:p>
        </p:txBody>
      </p:sp>
      <p:sp>
        <p:nvSpPr>
          <p:cNvPr id="15" name="Задачи участника 2"/>
          <p:cNvSpPr txBox="1"/>
          <p:nvPr/>
        </p:nvSpPr>
        <p:spPr>
          <a:xfrm>
            <a:off x="4368698" y="4818888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 кризиса 1992–1993 гг.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«чёрная среда» и выход Великобритании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девальвации и коридор ±15%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вёрстка презентации</a:t>
            </a:r>
            <a:endParaRPr lang="en-US" sz="1300" dirty="0"/>
          </a:p>
        </p:txBody>
      </p:sp>
      <p:sp>
        <p:nvSpPr>
          <p:cNvPr id="16" name="Слайды участника 2"/>
          <p:cNvSpPr txBox="1"/>
          <p:nvPr/>
        </p:nvSpPr>
        <p:spPr>
          <a:xfrm>
            <a:off x="4368698" y="5925312"/>
            <a:ext cx="3454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05–07</a:t>
            </a:r>
            <a:endParaRPr lang="en-US" sz="1100" dirty="0"/>
          </a:p>
        </p:txBody>
      </p:sp>
      <p:sp>
        <p:nvSpPr>
          <p:cNvPr id="17" name="Линия участника 3"/>
          <p:cNvSpPr/>
          <p:nvPr/>
        </p:nvSpPr>
        <p:spPr>
          <a:xfrm>
            <a:off x="8188757" y="4069080"/>
            <a:ext cx="345429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8" name="Раздел участника 3"/>
          <p:cNvSpPr txBox="1"/>
          <p:nvPr/>
        </p:nvSpPr>
        <p:spPr>
          <a:xfrm>
            <a:off x="8188757" y="4187952"/>
            <a:ext cx="345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· ПОСЛЕДСТВИЯ И ВЫВОДЫ</a:t>
            </a:r>
            <a:endParaRPr lang="en-US" sz="1050" dirty="0"/>
          </a:p>
        </p:txBody>
      </p:sp>
      <p:sp>
        <p:nvSpPr>
          <p:cNvPr id="19" name="Имя участника 3"/>
          <p:cNvSpPr txBox="1"/>
          <p:nvPr/>
        </p:nvSpPr>
        <p:spPr>
          <a:xfrm>
            <a:off x="8188757" y="4462272"/>
            <a:ext cx="34542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Татьянченко Иван Сергеевич</a:t>
            </a:r>
            <a:endParaRPr lang="en-US" sz="1600" dirty="0"/>
          </a:p>
        </p:txBody>
      </p:sp>
      <p:sp>
        <p:nvSpPr>
          <p:cNvPr id="20" name="Задачи участника 3"/>
          <p:cNvSpPr txBox="1"/>
          <p:nvPr/>
        </p:nvSpPr>
        <p:spPr>
          <a:xfrm>
            <a:off x="8188757" y="4818888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последствия для Великобритании и Италии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для Европы и выводы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источников</a:t>
            </a:r>
            <a:endParaRPr lang="en-US" sz="1300" dirty="0"/>
          </a:p>
        </p:txBody>
      </p:sp>
      <p:sp>
        <p:nvSpPr>
          <p:cNvPr id="21" name="Слайды участника 3"/>
          <p:cNvSpPr txBox="1"/>
          <p:nvPr/>
        </p:nvSpPr>
        <p:spPr>
          <a:xfrm>
            <a:off x="8188757" y="5925312"/>
            <a:ext cx="3454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08–10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I · СУТЬ И ПРИЧИНЫ КРИЗИСА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Н. Р. АВЕРЬЯНОВ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кризис ЕВС</a:t>
            </a:r>
            <a:endParaRPr lang="en-US" sz="3400" dirty="0"/>
          </a:p>
        </p:txBody>
      </p:sp>
      <p:sp>
        <p:nvSpPr>
          <p:cNvPr id="5" name="Определение"/>
          <p:cNvSpPr txBox="1"/>
          <p:nvPr/>
        </p:nvSpPr>
        <p:spPr>
          <a:xfrm>
            <a:off x="548640" y="1572768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50" i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Кризис ЕВС 1992–1993 гг. — это </a:t>
            </a:r>
            <a:r>
              <a:rPr lang="en-US" sz="1950" b="1" i="1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валютный кризис</a:t>
            </a:r>
            <a:r>
              <a:rPr lang="en-US" sz="1950" i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серия спекулятивных атак на европейские валюты, курсы которых были жёстко привязаны друг к другу в механизме ERM. Центральные банки не смогли удержать курсы, и система фиксированных курсов в Европе фактически распалась.</a:t>
            </a:r>
            <a:endParaRPr lang="en-US" sz="1950" dirty="0"/>
          </a:p>
        </p:txBody>
      </p:sp>
      <p:sp>
        <p:nvSpPr>
          <p:cNvPr id="6" name="Линия паспорта"/>
          <p:cNvSpPr/>
          <p:nvPr/>
        </p:nvSpPr>
        <p:spPr>
          <a:xfrm>
            <a:off x="548640" y="3127248"/>
            <a:ext cx="11094415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7" name="Паспорт Тип метка"/>
          <p:cNvSpPr txBox="1"/>
          <p:nvPr/>
        </p:nvSpPr>
        <p:spPr>
          <a:xfrm>
            <a:off x="548640" y="3236976"/>
            <a:ext cx="19902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</a:t>
            </a:r>
            <a:endParaRPr lang="en-US" sz="1050" dirty="0"/>
          </a:p>
        </p:txBody>
      </p:sp>
      <p:sp>
        <p:nvSpPr>
          <p:cNvPr id="8" name="Паспорт Тип"/>
          <p:cNvSpPr txBox="1"/>
          <p:nvPr/>
        </p:nvSpPr>
        <p:spPr>
          <a:xfrm>
            <a:off x="548640" y="3511296"/>
            <a:ext cx="19902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Валютный кризис</a:t>
            </a:r>
            <a:endParaRPr lang="en-US" sz="1550" dirty="0"/>
          </a:p>
        </p:txBody>
      </p:sp>
      <p:sp>
        <p:nvSpPr>
          <p:cNvPr id="9" name="Паспорт Тип пояснение"/>
          <p:cNvSpPr txBox="1"/>
          <p:nvPr/>
        </p:nvSpPr>
        <p:spPr>
          <a:xfrm>
            <a:off x="548640" y="3840480"/>
            <a:ext cx="19902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Пострадали курсы валют, а не банки и не госдолг</a:t>
            </a:r>
            <a:endParaRPr lang="en-US" sz="1300" dirty="0"/>
          </a:p>
        </p:txBody>
      </p:sp>
      <p:sp>
        <p:nvSpPr>
          <p:cNvPr id="10" name="Паспорт Где метка"/>
          <p:cNvSpPr txBox="1"/>
          <p:nvPr/>
        </p:nvSpPr>
        <p:spPr>
          <a:xfrm>
            <a:off x="2767523" y="3236976"/>
            <a:ext cx="19902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</a:t>
            </a:r>
            <a:endParaRPr lang="en-US" sz="1050" dirty="0"/>
          </a:p>
        </p:txBody>
      </p:sp>
      <p:sp>
        <p:nvSpPr>
          <p:cNvPr id="11" name="Паспорт Где"/>
          <p:cNvSpPr txBox="1"/>
          <p:nvPr/>
        </p:nvSpPr>
        <p:spPr>
          <a:xfrm>
            <a:off x="2767523" y="3511296"/>
            <a:ext cx="19902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ERM</a:t>
            </a:r>
            <a:endParaRPr lang="en-US" sz="1550" dirty="0"/>
          </a:p>
        </p:txBody>
      </p:sp>
      <p:sp>
        <p:nvSpPr>
          <p:cNvPr id="12" name="Паспорт Где пояснение"/>
          <p:cNvSpPr txBox="1"/>
          <p:nvPr/>
        </p:nvSpPr>
        <p:spPr>
          <a:xfrm>
            <a:off x="2767523" y="3840480"/>
            <a:ext cx="19902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Страны ЕС, валюты которых были привязаны друг к другу</a:t>
            </a:r>
            <a:endParaRPr lang="en-US" sz="1300" dirty="0"/>
          </a:p>
        </p:txBody>
      </p:sp>
      <p:sp>
        <p:nvSpPr>
          <p:cNvPr id="13" name="Паспорт Когда метка"/>
          <p:cNvSpPr txBox="1"/>
          <p:nvPr/>
        </p:nvSpPr>
        <p:spPr>
          <a:xfrm>
            <a:off x="4986406" y="3236976"/>
            <a:ext cx="19902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</a:t>
            </a:r>
            <a:endParaRPr lang="en-US" sz="1050" dirty="0"/>
          </a:p>
        </p:txBody>
      </p:sp>
      <p:sp>
        <p:nvSpPr>
          <p:cNvPr id="14" name="Паспорт Когда"/>
          <p:cNvSpPr txBox="1"/>
          <p:nvPr/>
        </p:nvSpPr>
        <p:spPr>
          <a:xfrm>
            <a:off x="4986406" y="3511296"/>
            <a:ext cx="19902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1992–1993</a:t>
            </a:r>
            <a:endParaRPr lang="en-US" sz="1550" dirty="0"/>
          </a:p>
        </p:txBody>
      </p:sp>
      <p:sp>
        <p:nvSpPr>
          <p:cNvPr id="15" name="Паспорт Когда пояснение"/>
          <p:cNvSpPr txBox="1"/>
          <p:nvPr/>
        </p:nvSpPr>
        <p:spPr>
          <a:xfrm>
            <a:off x="4986406" y="3840480"/>
            <a:ext cx="19902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Острая фаза — с сентября 1992 по август 1993</a:t>
            </a:r>
            <a:endParaRPr lang="en-US" sz="1300" dirty="0"/>
          </a:p>
        </p:txBody>
      </p:sp>
      <p:sp>
        <p:nvSpPr>
          <p:cNvPr id="16" name="Паспорт Как метка"/>
          <p:cNvSpPr txBox="1"/>
          <p:nvPr/>
        </p:nvSpPr>
        <p:spPr>
          <a:xfrm>
            <a:off x="7205289" y="3236976"/>
            <a:ext cx="19902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</a:t>
            </a:r>
            <a:endParaRPr lang="en-US" sz="1050" dirty="0"/>
          </a:p>
        </p:txBody>
      </p:sp>
      <p:sp>
        <p:nvSpPr>
          <p:cNvPr id="17" name="Паспорт Как"/>
          <p:cNvSpPr txBox="1"/>
          <p:nvPr/>
        </p:nvSpPr>
        <p:spPr>
          <a:xfrm>
            <a:off x="7205289" y="3511296"/>
            <a:ext cx="19902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Атаки на курсы</a:t>
            </a:r>
            <a:endParaRPr lang="en-US" sz="1550" dirty="0"/>
          </a:p>
        </p:txBody>
      </p:sp>
      <p:sp>
        <p:nvSpPr>
          <p:cNvPr id="18" name="Паспорт Как пояснение"/>
          <p:cNvSpPr txBox="1"/>
          <p:nvPr/>
        </p:nvSpPr>
        <p:spPr>
          <a:xfrm>
            <a:off x="7205289" y="3840480"/>
            <a:ext cx="19902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продаёт переоценённые валюты; ЦБ тратят резервы и сдаются</a:t>
            </a:r>
            <a:endParaRPr lang="en-US" sz="1300" dirty="0"/>
          </a:p>
        </p:txBody>
      </p:sp>
      <p:sp>
        <p:nvSpPr>
          <p:cNvPr id="19" name="Паспорт Итог метка"/>
          <p:cNvSpPr txBox="1"/>
          <p:nvPr/>
        </p:nvSpPr>
        <p:spPr>
          <a:xfrm>
            <a:off x="9424172" y="3236976"/>
            <a:ext cx="19902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050" dirty="0"/>
          </a:p>
        </p:txBody>
      </p:sp>
      <p:sp>
        <p:nvSpPr>
          <p:cNvPr id="20" name="Паспорт Итог"/>
          <p:cNvSpPr txBox="1"/>
          <p:nvPr/>
        </p:nvSpPr>
        <p:spPr>
          <a:xfrm>
            <a:off x="9424172" y="3511296"/>
            <a:ext cx="19902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 жёстких курсов</a:t>
            </a:r>
            <a:endParaRPr lang="en-US" sz="1550" dirty="0"/>
          </a:p>
        </p:txBody>
      </p:sp>
      <p:sp>
        <p:nvSpPr>
          <p:cNvPr id="21" name="Паспорт Итог пояснение"/>
          <p:cNvSpPr txBox="1"/>
          <p:nvPr/>
        </p:nvSpPr>
        <p:spPr>
          <a:xfrm>
            <a:off x="9424172" y="3840480"/>
            <a:ext cx="19902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Фунт и лира вышли из ERM, коридор расширен до ±15%</a:t>
            </a:r>
            <a:endParaRPr lang="en-US" sz="1300" dirty="0"/>
          </a:p>
        </p:txBody>
      </p:sp>
      <p:sp>
        <p:nvSpPr>
          <p:cNvPr id="22" name="Термин 1 фон"/>
          <p:cNvSpPr/>
          <p:nvPr/>
        </p:nvSpPr>
        <p:spPr>
          <a:xfrm>
            <a:off x="548640" y="4864608"/>
            <a:ext cx="3515258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3" name="Термин 1"/>
          <p:cNvSpPr txBox="1"/>
          <p:nvPr/>
        </p:nvSpPr>
        <p:spPr>
          <a:xfrm>
            <a:off x="749808" y="4992624"/>
            <a:ext cx="31129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Спекулятивная атака</a:t>
            </a: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массовая продажа валюты в расчёте на то, что её курс скоро понизят.</a:t>
            </a:r>
            <a:endParaRPr lang="en-US" sz="1400" dirty="0"/>
          </a:p>
        </p:txBody>
      </p:sp>
      <p:sp>
        <p:nvSpPr>
          <p:cNvPr id="24" name="Термин 2 фон"/>
          <p:cNvSpPr/>
          <p:nvPr/>
        </p:nvSpPr>
        <p:spPr>
          <a:xfrm>
            <a:off x="4338218" y="4864608"/>
            <a:ext cx="3515258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5" name="Термин 2"/>
          <p:cNvSpPr txBox="1"/>
          <p:nvPr/>
        </p:nvSpPr>
        <p:spPr>
          <a:xfrm>
            <a:off x="4539386" y="4992624"/>
            <a:ext cx="31129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Девальвация</a:t>
            </a: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официальное снижение курса национальной валюты.</a:t>
            </a:r>
            <a:endParaRPr lang="en-US" sz="1400" dirty="0"/>
          </a:p>
        </p:txBody>
      </p:sp>
      <p:sp>
        <p:nvSpPr>
          <p:cNvPr id="26" name="Термин 3 фон"/>
          <p:cNvSpPr/>
          <p:nvPr/>
        </p:nvSpPr>
        <p:spPr>
          <a:xfrm>
            <a:off x="8127797" y="4864608"/>
            <a:ext cx="3515258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7" name="Термин 3"/>
          <p:cNvSpPr txBox="1"/>
          <p:nvPr/>
        </p:nvSpPr>
        <p:spPr>
          <a:xfrm>
            <a:off x="8328965" y="4992624"/>
            <a:ext cx="31129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Коридор колебаний</a:t>
            </a: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допустимое отклонение курса от центрального: в ERM ±2,25% или ±6%.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I · СУТЬ И ПРИЧИНЫ КРИЗИСА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Н. Р. АВЕРЬЯНОВ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ЕВС и механизм ERM</a:t>
            </a:r>
            <a:endParaRPr lang="en-US" sz="3400" dirty="0"/>
          </a:p>
        </p:txBody>
      </p:sp>
      <p:sp>
        <p:nvSpPr>
          <p:cNvPr id="5" name="Устройство ERM"/>
          <p:cNvSpPr txBox="1"/>
          <p:nvPr/>
        </p:nvSpPr>
        <p:spPr>
          <a:xfrm>
            <a:off x="548640" y="16916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Европейская валютная система создана </a:t>
            </a: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марта 1979 г.</a:t>
            </a: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чтобы ограничить колебания курсов валют стран ЕЭС.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ядро — механизм обменных курсов </a:t>
            </a: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у каждой валюты центральный курс и коридор </a:t>
            </a: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±2,25%</a:t>
            </a: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для части валют </a:t>
            </a: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±6%</a:t>
            </a: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границе коридора центральные банки обязаны </a:t>
            </a:r>
            <a:r>
              <a:rPr lang="en-US" sz="15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ограничений покупать слабую валюту</a:t>
            </a: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1987 по 1992 г. курсы ни разу не пересматривали. К 1992 г. в ERM входили валюты 11 из 12 стран ЕС, в том числе фунт — с октября 1990 г., по курсу 2,95 марки.</a:t>
            </a:r>
            <a:endParaRPr lang="en-US" sz="1550" dirty="0"/>
          </a:p>
        </p:txBody>
      </p:sp>
      <p:sp>
        <p:nvSpPr>
          <p:cNvPr id="6" name="Широкий коридор"/>
          <p:cNvSpPr/>
          <p:nvPr/>
        </p:nvSpPr>
        <p:spPr>
          <a:xfrm>
            <a:off x="7178040" y="2011680"/>
            <a:ext cx="4462272" cy="27432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7" name="Узкий коридор"/>
          <p:cNvSpPr/>
          <p:nvPr/>
        </p:nvSpPr>
        <p:spPr>
          <a:xfrm>
            <a:off x="7178040" y="2868930"/>
            <a:ext cx="4462272" cy="1028700"/>
          </a:xfrm>
          <a:prstGeom prst="rect">
            <a:avLst/>
          </a:prstGeom>
          <a:solidFill>
            <a:srgbClr val="4F98DC">
              <a:alpha val="32000"/>
            </a:srgbClr>
          </a:solidFill>
          <a:ln/>
        </p:spPr>
      </p:sp>
      <p:sp>
        <p:nvSpPr>
          <p:cNvPr id="8" name="Граница 6"/>
          <p:cNvSpPr/>
          <p:nvPr/>
        </p:nvSpPr>
        <p:spPr>
          <a:xfrm>
            <a:off x="7178040" y="2011680"/>
            <a:ext cx="4462272" cy="0"/>
          </a:xfrm>
          <a:prstGeom prst="line">
            <a:avLst/>
          </a:prstGeom>
          <a:noFill/>
          <a:ln w="6350">
            <a:solidFill>
              <a:srgbClr val="F2EBDD">
                <a:alpha val="30000"/>
              </a:srgbClr>
            </a:solidFill>
            <a:prstDash val="solid"/>
          </a:ln>
        </p:spPr>
      </p:sp>
      <p:sp>
        <p:nvSpPr>
          <p:cNvPr id="9" name="Граница 2.25"/>
          <p:cNvSpPr/>
          <p:nvPr/>
        </p:nvSpPr>
        <p:spPr>
          <a:xfrm>
            <a:off x="7178040" y="2868930"/>
            <a:ext cx="4462272" cy="0"/>
          </a:xfrm>
          <a:prstGeom prst="line">
            <a:avLst/>
          </a:prstGeom>
          <a:noFill/>
          <a:ln w="6350">
            <a:solidFill>
              <a:srgbClr val="F2EBDD">
                <a:alpha val="30000"/>
              </a:srgbClr>
            </a:solidFill>
            <a:prstDash val="solid"/>
          </a:ln>
        </p:spPr>
      </p:sp>
      <p:sp>
        <p:nvSpPr>
          <p:cNvPr id="10" name="Граница -2.25"/>
          <p:cNvSpPr/>
          <p:nvPr/>
        </p:nvSpPr>
        <p:spPr>
          <a:xfrm>
            <a:off x="7178040" y="3897630"/>
            <a:ext cx="4462272" cy="0"/>
          </a:xfrm>
          <a:prstGeom prst="line">
            <a:avLst/>
          </a:prstGeom>
          <a:noFill/>
          <a:ln w="6350">
            <a:solidFill>
              <a:srgbClr val="F2EBDD">
                <a:alpha val="30000"/>
              </a:srgbClr>
            </a:solidFill>
            <a:prstDash val="solid"/>
          </a:ln>
        </p:spPr>
      </p:sp>
      <p:sp>
        <p:nvSpPr>
          <p:cNvPr id="11" name="Граница -6"/>
          <p:cNvSpPr/>
          <p:nvPr/>
        </p:nvSpPr>
        <p:spPr>
          <a:xfrm>
            <a:off x="7178040" y="4754880"/>
            <a:ext cx="4462272" cy="0"/>
          </a:xfrm>
          <a:prstGeom prst="line">
            <a:avLst/>
          </a:prstGeom>
          <a:noFill/>
          <a:ln w="6350">
            <a:solidFill>
              <a:srgbClr val="F2EBDD">
                <a:alpha val="30000"/>
              </a:srgbClr>
            </a:solidFill>
            <a:prstDash val="solid"/>
          </a:ln>
        </p:spPr>
      </p:sp>
      <p:sp>
        <p:nvSpPr>
          <p:cNvPr id="12" name="Центральный курс"/>
          <p:cNvSpPr/>
          <p:nvPr/>
        </p:nvSpPr>
        <p:spPr>
          <a:xfrm>
            <a:off x="7178040" y="3383280"/>
            <a:ext cx="4462272" cy="0"/>
          </a:xfrm>
          <a:prstGeom prst="line">
            <a:avLst/>
          </a:prstGeom>
          <a:noFill/>
          <a:ln w="9525">
            <a:solidFill>
              <a:srgbClr val="F2EBDD">
                <a:alpha val="55000"/>
              </a:srgbClr>
            </a:solidFill>
            <a:prstDash val="solid"/>
          </a:ln>
        </p:spPr>
      </p:sp>
      <p:sp>
        <p:nvSpPr>
          <p:cNvPr id="13" name="Подпись +6%"/>
          <p:cNvSpPr txBox="1"/>
          <p:nvPr/>
        </p:nvSpPr>
        <p:spPr>
          <a:xfrm>
            <a:off x="6446520" y="1901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</a:t>
            </a:r>
            <a:endParaRPr lang="en-US" sz="1100" dirty="0"/>
          </a:p>
        </p:txBody>
      </p:sp>
      <p:sp>
        <p:nvSpPr>
          <p:cNvPr id="14" name="Подпись +2,25%"/>
          <p:cNvSpPr txBox="1"/>
          <p:nvPr/>
        </p:nvSpPr>
        <p:spPr>
          <a:xfrm>
            <a:off x="6446520" y="275920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+2,25%</a:t>
            </a:r>
            <a:endParaRPr lang="en-US" sz="1100" dirty="0"/>
          </a:p>
        </p:txBody>
      </p:sp>
      <p:sp>
        <p:nvSpPr>
          <p:cNvPr id="15" name="Подпись 0"/>
          <p:cNvSpPr txBox="1"/>
          <p:nvPr/>
        </p:nvSpPr>
        <p:spPr>
          <a:xfrm>
            <a:off x="6446520" y="3273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Подпись −2,25%"/>
          <p:cNvSpPr txBox="1"/>
          <p:nvPr/>
        </p:nvSpPr>
        <p:spPr>
          <a:xfrm>
            <a:off x="6446520" y="378790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−2,25%</a:t>
            </a:r>
            <a:endParaRPr lang="en-US" sz="1100" dirty="0"/>
          </a:p>
        </p:txBody>
      </p:sp>
      <p:sp>
        <p:nvSpPr>
          <p:cNvPr id="17" name="Подпись −6%"/>
          <p:cNvSpPr txBox="1"/>
          <p:nvPr/>
        </p:nvSpPr>
        <p:spPr>
          <a:xfrm>
            <a:off x="6446520" y="46451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−6%</a:t>
            </a:r>
            <a:endParaRPr lang="en-US" sz="1100" dirty="0"/>
          </a:p>
        </p:txBody>
      </p:sp>
      <p:sp>
        <p:nvSpPr>
          <p:cNvPr id="18" name="Курс валюты (схема)"/>
          <p:cNvSpPr/>
          <p:nvPr/>
        </p:nvSpPr>
        <p:spPr>
          <a:xfrm>
            <a:off x="7178040" y="2868930"/>
            <a:ext cx="4462272" cy="1028700"/>
          </a:xfrm>
          <a:custGeom>
            <a:avLst/>
            <a:gdLst/>
            <a:ahLst/>
            <a:cxnLst/>
            <a:rect l="l" t="t" r="r" b="b"/>
            <a:pathLst>
              <a:path w="4462272" h="1028700">
                <a:moveTo>
                  <a:pt x="0" y="445770"/>
                </a:moveTo>
                <a:lnTo>
                  <a:pt x="194012" y="308610"/>
                </a:lnTo>
                <a:lnTo>
                  <a:pt x="388024" y="194310"/>
                </a:lnTo>
                <a:lnTo>
                  <a:pt x="582035" y="262890"/>
                </a:lnTo>
                <a:lnTo>
                  <a:pt x="776047" y="422910"/>
                </a:lnTo>
                <a:lnTo>
                  <a:pt x="970059" y="582930"/>
                </a:lnTo>
                <a:lnTo>
                  <a:pt x="1164071" y="742950"/>
                </a:lnTo>
                <a:lnTo>
                  <a:pt x="1358083" y="880110"/>
                </a:lnTo>
                <a:lnTo>
                  <a:pt x="1552095" y="971550"/>
                </a:lnTo>
                <a:lnTo>
                  <a:pt x="1746106" y="1028700"/>
                </a:lnTo>
                <a:lnTo>
                  <a:pt x="1940118" y="902970"/>
                </a:lnTo>
                <a:lnTo>
                  <a:pt x="2134130" y="742950"/>
                </a:lnTo>
                <a:lnTo>
                  <a:pt x="2328142" y="560070"/>
                </a:lnTo>
                <a:lnTo>
                  <a:pt x="2522154" y="400050"/>
                </a:lnTo>
                <a:lnTo>
                  <a:pt x="2716166" y="240030"/>
                </a:lnTo>
                <a:lnTo>
                  <a:pt x="2910177" y="102870"/>
                </a:lnTo>
                <a:lnTo>
                  <a:pt x="3104189" y="34290"/>
                </a:lnTo>
                <a:lnTo>
                  <a:pt x="3298201" y="0"/>
                </a:lnTo>
                <a:lnTo>
                  <a:pt x="3492213" y="102870"/>
                </a:lnTo>
                <a:lnTo>
                  <a:pt x="3686225" y="240030"/>
                </a:lnTo>
                <a:lnTo>
                  <a:pt x="3880237" y="308610"/>
                </a:lnTo>
                <a:lnTo>
                  <a:pt x="4074248" y="422910"/>
                </a:lnTo>
                <a:lnTo>
                  <a:pt x="4268260" y="491490"/>
                </a:lnTo>
                <a:lnTo>
                  <a:pt x="4462272" y="560070"/>
                </a:lnTo>
              </a:path>
            </a:pathLst>
          </a:custGeom>
          <a:ln w="25400">
            <a:solidFill>
              <a:srgbClr val="F2EBDD"/>
            </a:solidFill>
            <a:prstDash val="solid"/>
          </a:ln>
        </p:spPr>
      </p:sp>
      <p:sp>
        <p:nvSpPr>
          <p:cNvPr id="19" name="Интервенция 9"/>
          <p:cNvSpPr/>
          <p:nvPr/>
        </p:nvSpPr>
        <p:spPr>
          <a:xfrm>
            <a:off x="8846422" y="3819906"/>
            <a:ext cx="155448" cy="155448"/>
          </a:xfrm>
          <a:prstGeom prst="ellipse">
            <a:avLst/>
          </a:prstGeom>
          <a:solidFill>
            <a:srgbClr val="BD8828"/>
          </a:solidFill>
          <a:ln w="19050">
            <a:solidFill>
              <a:srgbClr val="1B2D4F"/>
            </a:solidFill>
            <a:prstDash val="solid"/>
          </a:ln>
        </p:spPr>
      </p:sp>
      <p:sp>
        <p:nvSpPr>
          <p:cNvPr id="20" name="Подпись интервенции 9"/>
          <p:cNvSpPr txBox="1"/>
          <p:nvPr/>
        </p:nvSpPr>
        <p:spPr>
          <a:xfrm>
            <a:off x="8192626" y="40256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интервенция</a:t>
            </a:r>
            <a:endParaRPr lang="en-US" sz="1100" dirty="0"/>
          </a:p>
        </p:txBody>
      </p:sp>
      <p:sp>
        <p:nvSpPr>
          <p:cNvPr id="21" name="Интервенция 17"/>
          <p:cNvSpPr/>
          <p:nvPr/>
        </p:nvSpPr>
        <p:spPr>
          <a:xfrm>
            <a:off x="10398517" y="2791206"/>
            <a:ext cx="155448" cy="155448"/>
          </a:xfrm>
          <a:prstGeom prst="ellipse">
            <a:avLst/>
          </a:prstGeom>
          <a:solidFill>
            <a:srgbClr val="BD8828"/>
          </a:solidFill>
          <a:ln w="19050">
            <a:solidFill>
              <a:srgbClr val="1B2D4F"/>
            </a:solidFill>
            <a:prstDash val="solid"/>
          </a:ln>
        </p:spPr>
      </p:sp>
      <p:sp>
        <p:nvSpPr>
          <p:cNvPr id="22" name="Подпись интервенции 17"/>
          <p:cNvSpPr txBox="1"/>
          <p:nvPr/>
        </p:nvSpPr>
        <p:spPr>
          <a:xfrm>
            <a:off x="9744721" y="252145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интервенция</a:t>
            </a:r>
            <a:endParaRPr lang="en-US" sz="1100" dirty="0"/>
          </a:p>
        </p:txBody>
      </p:sp>
      <p:sp>
        <p:nvSpPr>
          <p:cNvPr id="23" name="Легенда 1 знак"/>
          <p:cNvSpPr/>
          <p:nvPr/>
        </p:nvSpPr>
        <p:spPr>
          <a:xfrm>
            <a:off x="7178040" y="5230368"/>
            <a:ext cx="146304" cy="14630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4" name="Легенда 1"/>
          <p:cNvSpPr txBox="1"/>
          <p:nvPr/>
        </p:nvSpPr>
        <p:spPr>
          <a:xfrm>
            <a:off x="7397496" y="5175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широкий ±6%</a:t>
            </a:r>
            <a:endParaRPr lang="en-US" sz="1200" dirty="0"/>
          </a:p>
        </p:txBody>
      </p:sp>
      <p:sp>
        <p:nvSpPr>
          <p:cNvPr id="25" name="Легенда 2 знак"/>
          <p:cNvSpPr/>
          <p:nvPr/>
        </p:nvSpPr>
        <p:spPr>
          <a:xfrm>
            <a:off x="8686800" y="5230368"/>
            <a:ext cx="146304" cy="146304"/>
          </a:xfrm>
          <a:prstGeom prst="rect">
            <a:avLst/>
          </a:prstGeom>
          <a:solidFill>
            <a:srgbClr val="4F98DC">
              <a:alpha val="55000"/>
            </a:srgbClr>
          </a:solidFill>
          <a:ln/>
        </p:spPr>
      </p:sp>
      <p:sp>
        <p:nvSpPr>
          <p:cNvPr id="26" name="Легенда 2"/>
          <p:cNvSpPr txBox="1"/>
          <p:nvPr/>
        </p:nvSpPr>
        <p:spPr>
          <a:xfrm>
            <a:off x="8906256" y="5175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узкий ±2,25%</a:t>
            </a:r>
            <a:endParaRPr lang="en-US" sz="1200" dirty="0"/>
          </a:p>
        </p:txBody>
      </p:sp>
      <p:sp>
        <p:nvSpPr>
          <p:cNvPr id="27" name="Легенда 3 знак"/>
          <p:cNvSpPr/>
          <p:nvPr/>
        </p:nvSpPr>
        <p:spPr>
          <a:xfrm>
            <a:off x="10195560" y="5230368"/>
            <a:ext cx="146304" cy="146304"/>
          </a:xfrm>
          <a:prstGeom prst="ellipse">
            <a:avLst/>
          </a:prstGeom>
          <a:solidFill>
            <a:srgbClr val="BD8828"/>
          </a:solidFill>
          <a:ln/>
        </p:spPr>
      </p:sp>
      <p:sp>
        <p:nvSpPr>
          <p:cNvPr id="28" name="Легенда 3"/>
          <p:cNvSpPr txBox="1"/>
          <p:nvPr/>
        </p:nvSpPr>
        <p:spPr>
          <a:xfrm>
            <a:off x="10415016" y="5175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интервенция</a:t>
            </a:r>
            <a:endParaRPr lang="en-US" sz="1200" dirty="0"/>
          </a:p>
        </p:txBody>
      </p:sp>
      <p:sp>
        <p:nvSpPr>
          <p:cNvPr id="29" name="Подпись схемы"/>
          <p:cNvSpPr txBox="1"/>
          <p:nvPr/>
        </p:nvSpPr>
        <p:spPr>
          <a:xfrm>
            <a:off x="7178040" y="5532120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Схема: отклонение рыночного курса от центрального, 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I · СУТЬ И ПРИЧИНЫ КРИЗИСА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Н. Р. АВЕРЬЯНОВ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Причины кризиса</a:t>
            </a:r>
            <a:endParaRPr lang="en-US" sz="3400" dirty="0"/>
          </a:p>
        </p:txBody>
      </p:sp>
      <p:sp>
        <p:nvSpPr>
          <p:cNvPr id="5" name="Причина 1 фон"/>
          <p:cNvSpPr/>
          <p:nvPr/>
        </p:nvSpPr>
        <p:spPr>
          <a:xfrm>
            <a:off x="548640" y="1691640"/>
            <a:ext cx="3503066" cy="2880360"/>
          </a:xfrm>
          <a:prstGeom prst="roundRect">
            <a:avLst>
              <a:gd name="adj" fmla="val 381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Причина 1 число"/>
          <p:cNvSpPr txBox="1"/>
          <p:nvPr/>
        </p:nvSpPr>
        <p:spPr>
          <a:xfrm>
            <a:off x="804672" y="1847088"/>
            <a:ext cx="2991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8,75%</a:t>
            </a:r>
            <a:endParaRPr lang="en-US" sz="3800" dirty="0"/>
          </a:p>
        </p:txBody>
      </p:sp>
      <p:sp>
        <p:nvSpPr>
          <p:cNvPr id="7" name="Причина 1 название"/>
          <p:cNvSpPr txBox="1"/>
          <p:nvPr/>
        </p:nvSpPr>
        <p:spPr>
          <a:xfrm>
            <a:off x="804672" y="2514600"/>
            <a:ext cx="29910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ГЕРМАНИИ</a:t>
            </a:r>
            <a:endParaRPr lang="en-US" sz="1050" dirty="0"/>
          </a:p>
        </p:txBody>
      </p:sp>
      <p:sp>
        <p:nvSpPr>
          <p:cNvPr id="8" name="Причина 1 текст"/>
          <p:cNvSpPr txBox="1"/>
          <p:nvPr/>
        </p:nvSpPr>
        <p:spPr>
          <a:xfrm>
            <a:off x="804672" y="2834640"/>
            <a:ext cx="299100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 на восточные земли разогнали инфляцию, и Бундесбанк в июле 1992 г. поднял учётную ставку до 8,75%. Партнёрам по ERM пришлось держать такие же высокие ставки в разгар спада.</a:t>
            </a:r>
            <a:endParaRPr lang="en-US" sz="1400" dirty="0"/>
          </a:p>
        </p:txBody>
      </p:sp>
      <p:sp>
        <p:nvSpPr>
          <p:cNvPr id="9" name="Причина 2 фон"/>
          <p:cNvSpPr/>
          <p:nvPr/>
        </p:nvSpPr>
        <p:spPr>
          <a:xfrm>
            <a:off x="4344314" y="1691640"/>
            <a:ext cx="3503066" cy="2880360"/>
          </a:xfrm>
          <a:prstGeom prst="roundRect">
            <a:avLst>
              <a:gd name="adj" fmla="val 381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Причина 2 число"/>
          <p:cNvSpPr txBox="1"/>
          <p:nvPr/>
        </p:nvSpPr>
        <p:spPr>
          <a:xfrm>
            <a:off x="4600346" y="1847088"/>
            <a:ext cx="2991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50,7%</a:t>
            </a:r>
            <a:endParaRPr lang="en-US" sz="3800" dirty="0"/>
          </a:p>
        </p:txBody>
      </p:sp>
      <p:sp>
        <p:nvSpPr>
          <p:cNvPr id="11" name="Причина 2 название"/>
          <p:cNvSpPr txBox="1"/>
          <p:nvPr/>
        </p:nvSpPr>
        <p:spPr>
          <a:xfrm>
            <a:off x="4600346" y="2514600"/>
            <a:ext cx="29910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СОМНЕНИЯ В МААСТРИХТЕ</a:t>
            </a:r>
            <a:endParaRPr lang="en-US" sz="1050" dirty="0"/>
          </a:p>
        </p:txBody>
      </p:sp>
      <p:sp>
        <p:nvSpPr>
          <p:cNvPr id="12" name="Причина 2 текст"/>
          <p:cNvSpPr txBox="1"/>
          <p:nvPr/>
        </p:nvSpPr>
        <p:spPr>
          <a:xfrm>
            <a:off x="4600346" y="2834640"/>
            <a:ext cx="299100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июне 1992 г. Дания отвергла Маастрихтский договор, Франция в сентябре одобрила его лишь 51,04% голосов. Рынок усомнился, что страны будут защищать курсы ради единой валюты.</a:t>
            </a:r>
            <a:endParaRPr lang="en-US" sz="1400" dirty="0"/>
          </a:p>
        </p:txBody>
      </p:sp>
      <p:sp>
        <p:nvSpPr>
          <p:cNvPr id="13" name="Причина 3 фон"/>
          <p:cNvSpPr/>
          <p:nvPr/>
        </p:nvSpPr>
        <p:spPr>
          <a:xfrm>
            <a:off x="8139989" y="1691640"/>
            <a:ext cx="3503066" cy="2880360"/>
          </a:xfrm>
          <a:prstGeom prst="roundRect">
            <a:avLst>
              <a:gd name="adj" fmla="val 381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Причина 3 число"/>
          <p:cNvSpPr txBox="1"/>
          <p:nvPr/>
        </p:nvSpPr>
        <p:spPr>
          <a:xfrm>
            <a:off x="8396021" y="1847088"/>
            <a:ext cx="29910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</a:t>
            </a:r>
            <a:endParaRPr lang="en-US" sz="3800" dirty="0"/>
          </a:p>
        </p:txBody>
      </p:sp>
      <p:sp>
        <p:nvSpPr>
          <p:cNvPr id="15" name="Причина 3 название"/>
          <p:cNvSpPr txBox="1"/>
          <p:nvPr/>
        </p:nvSpPr>
        <p:spPr>
          <a:xfrm>
            <a:off x="8396021" y="2514600"/>
            <a:ext cx="29910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КАПИТАЛ</a:t>
            </a:r>
            <a:endParaRPr lang="en-US" sz="1050" dirty="0"/>
          </a:p>
        </p:txBody>
      </p:sp>
      <p:sp>
        <p:nvSpPr>
          <p:cNvPr id="16" name="Причина 3 текст"/>
          <p:cNvSpPr txBox="1"/>
          <p:nvPr/>
        </p:nvSpPr>
        <p:spPr>
          <a:xfrm>
            <a:off x="8396021" y="2834640"/>
            <a:ext cx="299100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1990 г. капитал в ЕС движется свободно. Инфляция в Италии, Испании и Великобритании выше немецкой, а курсы не менялись, поэтому их валюты оказались переоценены.</a:t>
            </a:r>
            <a:endParaRPr lang="en-US" sz="1400" dirty="0"/>
          </a:p>
        </p:txBody>
      </p:sp>
      <p:sp>
        <p:nvSpPr>
          <p:cNvPr id="17" name="Вывод о причинах"/>
          <p:cNvSpPr txBox="1"/>
          <p:nvPr/>
        </p:nvSpPr>
        <p:spPr>
          <a:xfrm>
            <a:off x="548640" y="4846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Фиксированный курс, свободный капитал и собственная денежная политика несовместимы. Участники ERM пожертвовали своей политикой, и в 1992 г. это стало невыносимо.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II · ХОД КРИЗИСА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Е. А. ГОРДЕЕВ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Ход кризиса: четыре волны</a:t>
            </a:r>
            <a:endParaRPr lang="en-US" sz="3400" dirty="0"/>
          </a:p>
        </p:txBody>
      </p:sp>
      <p:sp>
        <p:nvSpPr>
          <p:cNvPr id="5" name="Легенда выход из ERM знак"/>
          <p:cNvSpPr/>
          <p:nvPr/>
        </p:nvSpPr>
        <p:spPr>
          <a:xfrm>
            <a:off x="548640" y="1673352"/>
            <a:ext cx="109728" cy="109728"/>
          </a:xfrm>
          <a:prstGeom prst="ellipse">
            <a:avLst/>
          </a:prstGeom>
          <a:solidFill>
            <a:srgbClr val="FF9C85"/>
          </a:solidFill>
          <a:ln/>
        </p:spPr>
      </p:sp>
      <p:sp>
        <p:nvSpPr>
          <p:cNvPr id="6" name="Легенда выход из ERM"/>
          <p:cNvSpPr txBox="1"/>
          <p:nvPr/>
        </p:nvSpPr>
        <p:spPr>
          <a:xfrm>
            <a:off x="731520" y="1609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9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из ERM</a:t>
            </a:r>
            <a:endParaRPr lang="en-US" sz="1200" dirty="0"/>
          </a:p>
        </p:txBody>
      </p:sp>
      <p:sp>
        <p:nvSpPr>
          <p:cNvPr id="7" name="Легенда девальвация знак"/>
          <p:cNvSpPr/>
          <p:nvPr/>
        </p:nvSpPr>
        <p:spPr>
          <a:xfrm>
            <a:off x="2377440" y="1673352"/>
            <a:ext cx="109728" cy="109728"/>
          </a:xfrm>
          <a:prstGeom prst="ellipse">
            <a:avLst/>
          </a:prstGeom>
          <a:solidFill>
            <a:srgbClr val="DDB560"/>
          </a:solidFill>
          <a:ln/>
        </p:spPr>
      </p:sp>
      <p:sp>
        <p:nvSpPr>
          <p:cNvPr id="8" name="Легенда девальвация"/>
          <p:cNvSpPr txBox="1"/>
          <p:nvPr/>
        </p:nvSpPr>
        <p:spPr>
          <a:xfrm>
            <a:off x="2560320" y="1609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девальвация</a:t>
            </a:r>
            <a:endParaRPr lang="en-US" sz="1200" dirty="0"/>
          </a:p>
        </p:txBody>
      </p:sp>
      <p:sp>
        <p:nvSpPr>
          <p:cNvPr id="9" name="Легенда решение властей знак"/>
          <p:cNvSpPr/>
          <p:nvPr/>
        </p:nvSpPr>
        <p:spPr>
          <a:xfrm>
            <a:off x="4206240" y="1673352"/>
            <a:ext cx="109728" cy="109728"/>
          </a:xfrm>
          <a:prstGeom prst="ellipse">
            <a:avLst/>
          </a:prstGeom>
          <a:solidFill>
            <a:srgbClr val="A9CCF0"/>
          </a:solidFill>
          <a:ln/>
        </p:spPr>
      </p:sp>
      <p:sp>
        <p:nvSpPr>
          <p:cNvPr id="10" name="Легенда решение властей"/>
          <p:cNvSpPr txBox="1"/>
          <p:nvPr/>
        </p:nvSpPr>
        <p:spPr>
          <a:xfrm>
            <a:off x="4389120" y="1609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властей</a:t>
            </a:r>
            <a:endParaRPr lang="en-US" sz="1200" dirty="0"/>
          </a:p>
        </p:txBody>
      </p:sp>
      <p:sp>
        <p:nvSpPr>
          <p:cNvPr id="11" name="Линия времени"/>
          <p:cNvSpPr/>
          <p:nvPr/>
        </p:nvSpPr>
        <p:spPr>
          <a:xfrm>
            <a:off x="548640" y="2240280"/>
            <a:ext cx="11094415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2" name="Волна 1 точка"/>
          <p:cNvSpPr/>
          <p:nvPr/>
        </p:nvSpPr>
        <p:spPr>
          <a:xfrm>
            <a:off x="548640" y="2157984"/>
            <a:ext cx="164592" cy="164592"/>
          </a:xfrm>
          <a:prstGeom prst="ellipse">
            <a:avLst/>
          </a:prstGeom>
          <a:solidFill>
            <a:srgbClr val="DDB560"/>
          </a:solidFill>
          <a:ln w="25400">
            <a:solidFill>
              <a:srgbClr val="44203A"/>
            </a:solidFill>
            <a:prstDash val="solid"/>
          </a:ln>
        </p:spPr>
      </p:sp>
      <p:sp>
        <p:nvSpPr>
          <p:cNvPr id="13" name="Волна 1 период"/>
          <p:cNvSpPr txBox="1"/>
          <p:nvPr/>
        </p:nvSpPr>
        <p:spPr>
          <a:xfrm>
            <a:off x="548640" y="2450592"/>
            <a:ext cx="256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 — ИЮЛЬ 1992</a:t>
            </a:r>
            <a:endParaRPr lang="en-US" sz="1050" dirty="0"/>
          </a:p>
        </p:txBody>
      </p:sp>
      <p:sp>
        <p:nvSpPr>
          <p:cNvPr id="14" name="Волна 1 название"/>
          <p:cNvSpPr txBox="1"/>
          <p:nvPr/>
        </p:nvSpPr>
        <p:spPr>
          <a:xfrm>
            <a:off x="548640" y="2724912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Предвестники</a:t>
            </a:r>
            <a:endParaRPr lang="en-US" sz="1900" dirty="0"/>
          </a:p>
        </p:txBody>
      </p:sp>
      <p:sp>
        <p:nvSpPr>
          <p:cNvPr id="15" name="Волна 1 события"/>
          <p:cNvSpPr txBox="1"/>
          <p:nvPr/>
        </p:nvSpPr>
        <p:spPr>
          <a:xfrm>
            <a:off x="548640" y="3200400"/>
            <a:ext cx="2567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02.06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Дания отвергает Маастрихтский договор  </a:t>
            </a:r>
            <a:r>
              <a:rPr lang="en-US" sz="1150" dirty="0">
                <a:solidFill>
                  <a:srgbClr val="A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референдум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16.07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Бундесбанк поднимает ставку до 8,75%  </a:t>
            </a:r>
            <a:r>
              <a:rPr lang="en-US" sz="1150" dirty="0">
                <a:solidFill>
                  <a:srgbClr val="A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ставка</a:t>
            </a:r>
            <a:endParaRPr lang="en-US" sz="1150" dirty="0"/>
          </a:p>
        </p:txBody>
      </p:sp>
      <p:sp>
        <p:nvSpPr>
          <p:cNvPr id="16" name="Волна 2 точка"/>
          <p:cNvSpPr/>
          <p:nvPr/>
        </p:nvSpPr>
        <p:spPr>
          <a:xfrm>
            <a:off x="3390824" y="2157984"/>
            <a:ext cx="164592" cy="164592"/>
          </a:xfrm>
          <a:prstGeom prst="ellipse">
            <a:avLst/>
          </a:prstGeom>
          <a:solidFill>
            <a:srgbClr val="FF9C85"/>
          </a:solidFill>
          <a:ln w="25400">
            <a:solidFill>
              <a:srgbClr val="44203A"/>
            </a:solidFill>
            <a:prstDash val="solid"/>
          </a:ln>
        </p:spPr>
      </p:sp>
      <p:sp>
        <p:nvSpPr>
          <p:cNvPr id="17" name="Волна 2 период"/>
          <p:cNvSpPr txBox="1"/>
          <p:nvPr/>
        </p:nvSpPr>
        <p:spPr>
          <a:xfrm>
            <a:off x="3390824" y="2450592"/>
            <a:ext cx="256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1992</a:t>
            </a:r>
            <a:endParaRPr lang="en-US" sz="1050" dirty="0"/>
          </a:p>
        </p:txBody>
      </p:sp>
      <p:sp>
        <p:nvSpPr>
          <p:cNvPr id="18" name="Волна 2 название"/>
          <p:cNvSpPr txBox="1"/>
          <p:nvPr/>
        </p:nvSpPr>
        <p:spPr>
          <a:xfrm>
            <a:off x="3390824" y="2724912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Обвал</a:t>
            </a:r>
            <a:endParaRPr lang="en-US" sz="1900" dirty="0"/>
          </a:p>
        </p:txBody>
      </p:sp>
      <p:sp>
        <p:nvSpPr>
          <p:cNvPr id="19" name="Волна 2 события"/>
          <p:cNvSpPr txBox="1"/>
          <p:nvPr/>
        </p:nvSpPr>
        <p:spPr>
          <a:xfrm>
            <a:off x="3390824" y="3200400"/>
            <a:ext cx="2567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13.09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Лира девальвирована на 7%  </a:t>
            </a:r>
            <a:r>
              <a:rPr lang="en-US" sz="115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−7%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16.09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«Чёрная среда»: фунт выходит из ERM  </a:t>
            </a:r>
            <a:r>
              <a:rPr lang="en-US" sz="1150" dirty="0">
                <a:solidFill>
                  <a:srgbClr val="FF9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выход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17.09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Италия выходит из ERM  </a:t>
            </a:r>
            <a:r>
              <a:rPr lang="en-US" sz="1150" dirty="0">
                <a:solidFill>
                  <a:srgbClr val="FF9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выход</a:t>
            </a:r>
            <a:endParaRPr lang="en-US" sz="1150" dirty="0"/>
          </a:p>
        </p:txBody>
      </p:sp>
      <p:sp>
        <p:nvSpPr>
          <p:cNvPr id="20" name="Волна 3 точка"/>
          <p:cNvSpPr/>
          <p:nvPr/>
        </p:nvSpPr>
        <p:spPr>
          <a:xfrm>
            <a:off x="6233008" y="2157984"/>
            <a:ext cx="164592" cy="164592"/>
          </a:xfrm>
          <a:prstGeom prst="ellipse">
            <a:avLst/>
          </a:prstGeom>
          <a:solidFill>
            <a:srgbClr val="DDB560"/>
          </a:solidFill>
          <a:ln w="25400">
            <a:solidFill>
              <a:srgbClr val="44203A"/>
            </a:solidFill>
            <a:prstDash val="solid"/>
          </a:ln>
        </p:spPr>
      </p:sp>
      <p:sp>
        <p:nvSpPr>
          <p:cNvPr id="21" name="Волна 3 период"/>
          <p:cNvSpPr txBox="1"/>
          <p:nvPr/>
        </p:nvSpPr>
        <p:spPr>
          <a:xfrm>
            <a:off x="6233008" y="2450592"/>
            <a:ext cx="256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1992 — МАЙ 1993</a:t>
            </a:r>
            <a:endParaRPr lang="en-US" sz="1050" dirty="0"/>
          </a:p>
        </p:txBody>
      </p:sp>
      <p:sp>
        <p:nvSpPr>
          <p:cNvPr id="22" name="Волна 3 название"/>
          <p:cNvSpPr txBox="1"/>
          <p:nvPr/>
        </p:nvSpPr>
        <p:spPr>
          <a:xfrm>
            <a:off x="6233008" y="2724912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Цепная реакция</a:t>
            </a:r>
            <a:endParaRPr lang="en-US" sz="1900" dirty="0"/>
          </a:p>
        </p:txBody>
      </p:sp>
      <p:sp>
        <p:nvSpPr>
          <p:cNvPr id="23" name="Волна 3 события"/>
          <p:cNvSpPr txBox="1"/>
          <p:nvPr/>
        </p:nvSpPr>
        <p:spPr>
          <a:xfrm>
            <a:off x="6233008" y="3200400"/>
            <a:ext cx="2567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22.11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Песета и эскудо −6%  </a:t>
            </a:r>
            <a:r>
              <a:rPr lang="en-US" sz="115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−6%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30.01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Ирландский фунт −10%  </a:t>
            </a:r>
            <a:r>
              <a:rPr lang="en-US" sz="115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−10%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13.05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Песета −8%, эскудо −6,5%  </a:t>
            </a:r>
            <a:r>
              <a:rPr lang="en-US" sz="115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−8%</a:t>
            </a:r>
            <a:endParaRPr lang="en-US" sz="1150" dirty="0"/>
          </a:p>
        </p:txBody>
      </p:sp>
      <p:sp>
        <p:nvSpPr>
          <p:cNvPr id="24" name="Волна 4 точка"/>
          <p:cNvSpPr/>
          <p:nvPr/>
        </p:nvSpPr>
        <p:spPr>
          <a:xfrm>
            <a:off x="9075191" y="2157984"/>
            <a:ext cx="164592" cy="164592"/>
          </a:xfrm>
          <a:prstGeom prst="ellipse">
            <a:avLst/>
          </a:prstGeom>
          <a:solidFill>
            <a:srgbClr val="FF9C85"/>
          </a:solidFill>
          <a:ln w="25400">
            <a:solidFill>
              <a:srgbClr val="44203A"/>
            </a:solidFill>
            <a:prstDash val="solid"/>
          </a:ln>
        </p:spPr>
      </p:sp>
      <p:sp>
        <p:nvSpPr>
          <p:cNvPr id="25" name="Волна 4 период"/>
          <p:cNvSpPr txBox="1"/>
          <p:nvPr/>
        </p:nvSpPr>
        <p:spPr>
          <a:xfrm>
            <a:off x="9075191" y="2450592"/>
            <a:ext cx="256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 — АВГУСТ 1993</a:t>
            </a:r>
            <a:endParaRPr lang="en-US" sz="1050" dirty="0"/>
          </a:p>
        </p:txBody>
      </p:sp>
      <p:sp>
        <p:nvSpPr>
          <p:cNvPr id="26" name="Волна 4 название"/>
          <p:cNvSpPr txBox="1"/>
          <p:nvPr/>
        </p:nvSpPr>
        <p:spPr>
          <a:xfrm>
            <a:off x="9075191" y="2724912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Развязка</a:t>
            </a:r>
            <a:endParaRPr lang="en-US" sz="1900" dirty="0"/>
          </a:p>
        </p:txBody>
      </p:sp>
      <p:sp>
        <p:nvSpPr>
          <p:cNvPr id="27" name="Волна 4 события"/>
          <p:cNvSpPr txBox="1"/>
          <p:nvPr/>
        </p:nvSpPr>
        <p:spPr>
          <a:xfrm>
            <a:off x="9075191" y="3200400"/>
            <a:ext cx="256786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июль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на французский франк  </a:t>
            </a:r>
            <a:r>
              <a:rPr lang="en-US" sz="1150" dirty="0">
                <a:solidFill>
                  <a:srgbClr val="FF9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атака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02.08</a:t>
            </a:r>
            <a:endParaRPr lang="en-US" sz="11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Коридор ERM расширен до ±15%  </a:t>
            </a:r>
            <a:r>
              <a:rPr lang="en-US" sz="1150" dirty="0">
                <a:solidFill>
                  <a:srgbClr val="A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 решение ЕС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II · ХОД КРИЗИСА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Е. А. ГОРДЕЕВ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«Чёрная среда» и выход Великобритании</a:t>
            </a:r>
            <a:endParaRPr lang="en-US" sz="3400" dirty="0"/>
          </a:p>
        </p:txBody>
      </p:sp>
      <p:sp>
        <p:nvSpPr>
          <p:cNvPr id="5" name="Дата"/>
          <p:cNvSpPr txBox="1"/>
          <p:nvPr/>
        </p:nvSpPr>
        <p:spPr>
          <a:xfrm>
            <a:off x="548640" y="1627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СЕНТЯБРЯ 1992 Г.</a:t>
            </a:r>
            <a:endParaRPr lang="en-US" sz="1050" dirty="0"/>
          </a:p>
        </p:txBody>
      </p:sp>
      <p:sp>
        <p:nvSpPr>
          <p:cNvPr id="6" name="Время утро"/>
          <p:cNvSpPr txBox="1"/>
          <p:nvPr/>
        </p:nvSpPr>
        <p:spPr>
          <a:xfrm>
            <a:off x="548640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утро</a:t>
            </a:r>
            <a:endParaRPr lang="en-US" sz="1900" dirty="0"/>
          </a:p>
        </p:txBody>
      </p:sp>
      <p:sp>
        <p:nvSpPr>
          <p:cNvPr id="7" name="Событие утро"/>
          <p:cNvSpPr txBox="1"/>
          <p:nvPr/>
        </p:nvSpPr>
        <p:spPr>
          <a:xfrm>
            <a:off x="1600200" y="202082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Массовые продажи фунта. Банк Англии скупает фунты за счёт резервов, но курс не отходит от нижней границы 2,7780 DM.</a:t>
            </a:r>
            <a:endParaRPr lang="en-US" sz="1450" dirty="0"/>
          </a:p>
        </p:txBody>
      </p:sp>
      <p:sp>
        <p:nvSpPr>
          <p:cNvPr id="8" name="Разделитель 1"/>
          <p:cNvSpPr/>
          <p:nvPr/>
        </p:nvSpPr>
        <p:spPr>
          <a:xfrm>
            <a:off x="548640" y="2816352"/>
            <a:ext cx="6035040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9" name="Время 11:00"/>
          <p:cNvSpPr txBox="1"/>
          <p:nvPr/>
        </p:nvSpPr>
        <p:spPr>
          <a:xfrm>
            <a:off x="54864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11:00</a:t>
            </a:r>
            <a:endParaRPr lang="en-US" sz="1900" dirty="0"/>
          </a:p>
        </p:txBody>
      </p:sp>
      <p:sp>
        <p:nvSpPr>
          <p:cNvPr id="10" name="Событие 11:00"/>
          <p:cNvSpPr txBox="1"/>
          <p:nvPr/>
        </p:nvSpPr>
        <p:spPr>
          <a:xfrm>
            <a:off x="1600200" y="295351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ставка поднята с 10% до 12%. Реакции рынка почти нет.</a:t>
            </a:r>
            <a:endParaRPr lang="en-US" sz="1450" dirty="0"/>
          </a:p>
        </p:txBody>
      </p:sp>
      <p:sp>
        <p:nvSpPr>
          <p:cNvPr id="11" name="Разделитель 2"/>
          <p:cNvSpPr/>
          <p:nvPr/>
        </p:nvSpPr>
        <p:spPr>
          <a:xfrm>
            <a:off x="548640" y="3749040"/>
            <a:ext cx="6035040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2" name="Время 14:15"/>
          <p:cNvSpPr txBox="1"/>
          <p:nvPr/>
        </p:nvSpPr>
        <p:spPr>
          <a:xfrm>
            <a:off x="54864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14:15</a:t>
            </a:r>
            <a:endParaRPr lang="en-US" sz="1900" dirty="0"/>
          </a:p>
        </p:txBody>
      </p:sp>
      <p:sp>
        <p:nvSpPr>
          <p:cNvPr id="13" name="Событие 14:15"/>
          <p:cNvSpPr txBox="1"/>
          <p:nvPr/>
        </p:nvSpPr>
        <p:spPr>
          <a:xfrm>
            <a:off x="1600200" y="38862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Объявлено повышение до 15% со следующего дня. Продажи продолжаются.</a:t>
            </a:r>
            <a:endParaRPr lang="en-US" sz="1450" dirty="0"/>
          </a:p>
        </p:txBody>
      </p:sp>
      <p:sp>
        <p:nvSpPr>
          <p:cNvPr id="14" name="Разделитель 3"/>
          <p:cNvSpPr/>
          <p:nvPr/>
        </p:nvSpPr>
        <p:spPr>
          <a:xfrm>
            <a:off x="548640" y="4681728"/>
            <a:ext cx="6035040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5" name="Время 19:30"/>
          <p:cNvSpPr txBox="1"/>
          <p:nvPr/>
        </p:nvSpPr>
        <p:spPr>
          <a:xfrm>
            <a:off x="548640" y="47914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9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19:30</a:t>
            </a:r>
            <a:endParaRPr lang="en-US" sz="1900" dirty="0"/>
          </a:p>
        </p:txBody>
      </p:sp>
      <p:sp>
        <p:nvSpPr>
          <p:cNvPr id="16" name="Событие 19:30"/>
          <p:cNvSpPr txBox="1"/>
          <p:nvPr/>
        </p:nvSpPr>
        <p:spPr>
          <a:xfrm>
            <a:off x="1600200" y="481888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Министр финансов Норман Ламонт объявляет о выходе Великобритании из ERM.</a:t>
            </a:r>
            <a:endParaRPr lang="en-US" sz="1450" dirty="0"/>
          </a:p>
        </p:txBody>
      </p:sp>
      <p:sp>
        <p:nvSpPr>
          <p:cNvPr id="17" name="Показатель 1 линия"/>
          <p:cNvSpPr/>
          <p:nvPr/>
        </p:nvSpPr>
        <p:spPr>
          <a:xfrm>
            <a:off x="7086600" y="1783080"/>
            <a:ext cx="211820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8" name="Показатель 1"/>
          <p:cNvSpPr txBox="1"/>
          <p:nvPr/>
        </p:nvSpPr>
        <p:spPr>
          <a:xfrm>
            <a:off x="7086600" y="1911096"/>
            <a:ext cx="211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12→15%</a:t>
            </a:r>
            <a:endParaRPr lang="en-US" sz="3000" dirty="0"/>
          </a:p>
        </p:txBody>
      </p:sp>
      <p:sp>
        <p:nvSpPr>
          <p:cNvPr id="19" name="Показатель 1 подпись"/>
          <p:cNvSpPr txBox="1"/>
          <p:nvPr/>
        </p:nvSpPr>
        <p:spPr>
          <a:xfrm>
            <a:off x="7086600" y="2514600"/>
            <a:ext cx="21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за один день; 15% только объявили</a:t>
            </a:r>
            <a:endParaRPr lang="en-US" sz="1250" dirty="0"/>
          </a:p>
        </p:txBody>
      </p:sp>
      <p:sp>
        <p:nvSpPr>
          <p:cNvPr id="20" name="Показатель 2 линия"/>
          <p:cNvSpPr/>
          <p:nvPr/>
        </p:nvSpPr>
        <p:spPr>
          <a:xfrm>
            <a:off x="9524848" y="1783080"/>
            <a:ext cx="211820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21" name="Показатель 2"/>
          <p:cNvSpPr txBox="1"/>
          <p:nvPr/>
        </p:nvSpPr>
        <p:spPr>
          <a:xfrm>
            <a:off x="9524848" y="1911096"/>
            <a:ext cx="211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£3,3 млрд</a:t>
            </a:r>
            <a:endParaRPr lang="en-US" sz="3000" dirty="0"/>
          </a:p>
        </p:txBody>
      </p:sp>
      <p:sp>
        <p:nvSpPr>
          <p:cNvPr id="22" name="Показатель 2 подпись"/>
          <p:cNvSpPr txBox="1"/>
          <p:nvPr/>
        </p:nvSpPr>
        <p:spPr>
          <a:xfrm>
            <a:off x="9524848" y="2514600"/>
            <a:ext cx="21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 казначейства по оценке 2005 г.</a:t>
            </a:r>
            <a:endParaRPr lang="en-US" sz="1250" dirty="0"/>
          </a:p>
        </p:txBody>
      </p:sp>
      <p:sp>
        <p:nvSpPr>
          <p:cNvPr id="23" name="Показатель 3 линия"/>
          <p:cNvSpPr/>
          <p:nvPr/>
        </p:nvSpPr>
        <p:spPr>
          <a:xfrm>
            <a:off x="7086600" y="3200400"/>
            <a:ext cx="211820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24" name="Показатель 3"/>
          <p:cNvSpPr txBox="1"/>
          <p:nvPr/>
        </p:nvSpPr>
        <p:spPr>
          <a:xfrm>
            <a:off x="7086600" y="3328416"/>
            <a:ext cx="211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 млрд</a:t>
            </a:r>
            <a:endParaRPr lang="en-US" sz="3000" dirty="0"/>
          </a:p>
        </p:txBody>
      </p:sp>
      <p:sp>
        <p:nvSpPr>
          <p:cNvPr id="25" name="Показатель 3 подпись"/>
          <p:cNvSpPr txBox="1"/>
          <p:nvPr/>
        </p:nvSpPr>
        <p:spPr>
          <a:xfrm>
            <a:off x="7086600" y="3931920"/>
            <a:ext cx="21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фонда Джорджа Сороса против фунта</a:t>
            </a:r>
            <a:endParaRPr lang="en-US" sz="1250" dirty="0"/>
          </a:p>
        </p:txBody>
      </p:sp>
      <p:sp>
        <p:nvSpPr>
          <p:cNvPr id="26" name="Показатель 4 линия"/>
          <p:cNvSpPr/>
          <p:nvPr/>
        </p:nvSpPr>
        <p:spPr>
          <a:xfrm>
            <a:off x="9524848" y="3200400"/>
            <a:ext cx="211820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27" name="Показатель 4"/>
          <p:cNvSpPr txBox="1"/>
          <p:nvPr/>
        </p:nvSpPr>
        <p:spPr>
          <a:xfrm>
            <a:off x="9524848" y="3328416"/>
            <a:ext cx="211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млрд+</a:t>
            </a:r>
            <a:endParaRPr lang="en-US" sz="3000" dirty="0"/>
          </a:p>
        </p:txBody>
      </p:sp>
      <p:sp>
        <p:nvSpPr>
          <p:cNvPr id="28" name="Показатель 4 подпись"/>
          <p:cNvSpPr txBox="1"/>
          <p:nvPr/>
        </p:nvSpPr>
        <p:spPr>
          <a:xfrm>
            <a:off x="9524848" y="3931920"/>
            <a:ext cx="2118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прибыль фонда Сороса</a:t>
            </a:r>
            <a:endParaRPr lang="en-US" sz="1250" dirty="0"/>
          </a:p>
        </p:txBody>
      </p:sp>
      <p:sp>
        <p:nvSpPr>
          <p:cNvPr id="29" name="Почему не удалось"/>
          <p:cNvSpPr txBox="1"/>
          <p:nvPr/>
        </p:nvSpPr>
        <p:spPr>
          <a:xfrm>
            <a:off x="7086600" y="4754880"/>
            <a:ext cx="4556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не поверил ставкам: в рецессии, при ипотеке с плавающей ставкой, правительство не могло долго держать 12–15%. Для спекулянтов это была почти беспроигрышная ставка.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II · ХОД КРИЗИСА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Е. А. ГОРДЕЕВ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Цепная реакция и коридор ±15%</a:t>
            </a:r>
            <a:endParaRPr lang="en-US" sz="3400" dirty="0"/>
          </a:p>
        </p:txBody>
      </p:sp>
      <p:sp>
        <p:nvSpPr>
          <p:cNvPr id="5" name="Вводка"/>
          <p:cNvSpPr txBox="1"/>
          <p:nvPr/>
        </p:nvSpPr>
        <p:spPr>
          <a:xfrm>
            <a:off x="548640" y="157276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фунта давление перешло на другие валюты. Летом 1993 г. рынок атаковал французский франк, и 2 августа министры финансов ЕС расширили коридор до ±15%.</a:t>
            </a:r>
            <a:endParaRPr lang="en-US" sz="1600" dirty="0"/>
          </a:p>
        </p:txBody>
      </p:sp>
      <p:graphicFrame>
        <p:nvGraphicFramePr>
          <p:cNvPr id="8" name="Таблица валют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400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794760"/>
                <a:gridCol w="914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9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9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ПРОИЗОШЛО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spc="100" kern="0" dirty="0">
                          <a:solidFill>
                            <a:srgbClr val="9A9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EB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Фунт  GBP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B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Выход из ERM, 16.09.1992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9C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вышла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EB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Лира  ITL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B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−7%, затем выход из ERM, 17.09.1992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9C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вышла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EB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Песета  ESP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B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 девальвации: −5%, −6%, −8%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DB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×3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EB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Эскудо  PTE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B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Две девальвации: −6%, −6,5%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DB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×2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EB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Ирл. фунт  IEP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B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−10%, 30.01.1993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DB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×1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2EB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Франк  FRF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4BF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Удержан, но коридор расширили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9CC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±15%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E5A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Заголовок диаграммы коридоров"/>
          <p:cNvSpPr txBox="1"/>
          <p:nvPr/>
        </p:nvSpPr>
        <p:spPr>
          <a:xfrm>
            <a:off x="7452360" y="2377440"/>
            <a:ext cx="4190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КОРИДОРА, % ОТ ЦЕНТРАЛЬНОГО КУРСА</a:t>
            </a:r>
            <a:endParaRPr lang="en-US" sz="1050" dirty="0"/>
          </a:p>
        </p:txBody>
      </p:sp>
      <p:sp>
        <p:nvSpPr>
          <p:cNvPr id="8" name="Коридор 1 название"/>
          <p:cNvSpPr txBox="1"/>
          <p:nvPr/>
        </p:nvSpPr>
        <p:spPr>
          <a:xfrm>
            <a:off x="7452360" y="2788920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Узкий, 1979 — июль 1993</a:t>
            </a:r>
            <a:endParaRPr lang="en-US" sz="1300" dirty="0"/>
          </a:p>
        </p:txBody>
      </p:sp>
      <p:sp>
        <p:nvSpPr>
          <p:cNvPr id="9" name="Коридор 1 ширина"/>
          <p:cNvSpPr txBox="1"/>
          <p:nvPr/>
        </p:nvSpPr>
        <p:spPr>
          <a:xfrm>
            <a:off x="10911535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±2,25%</a:t>
            </a:r>
            <a:endParaRPr lang="en-US" sz="1300" dirty="0"/>
          </a:p>
        </p:txBody>
      </p:sp>
      <p:sp>
        <p:nvSpPr>
          <p:cNvPr id="10" name="Коридор 1 шкала"/>
          <p:cNvSpPr/>
          <p:nvPr/>
        </p:nvSpPr>
        <p:spPr>
          <a:xfrm>
            <a:off x="7452360" y="3099816"/>
            <a:ext cx="4190695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Коридор 1 полоса"/>
          <p:cNvSpPr/>
          <p:nvPr/>
        </p:nvSpPr>
        <p:spPr>
          <a:xfrm>
            <a:off x="9233405" y="3099816"/>
            <a:ext cx="628604" cy="146304"/>
          </a:xfrm>
          <a:prstGeom prst="roundRect">
            <a:avLst>
              <a:gd name="adj" fmla="val 50000"/>
            </a:avLst>
          </a:prstGeom>
          <a:solidFill>
            <a:srgbClr val="4F98DC"/>
          </a:solidFill>
          <a:ln/>
        </p:spPr>
      </p:sp>
      <p:sp>
        <p:nvSpPr>
          <p:cNvPr id="12" name="Коридор 1 центр"/>
          <p:cNvSpPr/>
          <p:nvPr/>
        </p:nvSpPr>
        <p:spPr>
          <a:xfrm>
            <a:off x="9547708" y="3044952"/>
            <a:ext cx="0" cy="256032"/>
          </a:xfrm>
          <a:prstGeom prst="line">
            <a:avLst/>
          </a:prstGeom>
          <a:noFill/>
          <a:ln w="12700">
            <a:solidFill>
              <a:srgbClr val="F2EBDD"/>
            </a:solidFill>
            <a:prstDash val="solid"/>
          </a:ln>
        </p:spPr>
      </p:sp>
      <p:sp>
        <p:nvSpPr>
          <p:cNvPr id="13" name="Коридор 2 название"/>
          <p:cNvSpPr txBox="1"/>
          <p:nvPr/>
        </p:nvSpPr>
        <p:spPr>
          <a:xfrm>
            <a:off x="7452360" y="3502152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Широкий: песета, фунт, эскудо</a:t>
            </a:r>
            <a:endParaRPr lang="en-US" sz="1300" dirty="0"/>
          </a:p>
        </p:txBody>
      </p:sp>
      <p:sp>
        <p:nvSpPr>
          <p:cNvPr id="14" name="Коридор 2 ширина"/>
          <p:cNvSpPr txBox="1"/>
          <p:nvPr/>
        </p:nvSpPr>
        <p:spPr>
          <a:xfrm>
            <a:off x="10911535" y="35021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±6%</a:t>
            </a:r>
            <a:endParaRPr lang="en-US" sz="1300" dirty="0"/>
          </a:p>
        </p:txBody>
      </p:sp>
      <p:sp>
        <p:nvSpPr>
          <p:cNvPr id="15" name="Коридор 2 шкала"/>
          <p:cNvSpPr/>
          <p:nvPr/>
        </p:nvSpPr>
        <p:spPr>
          <a:xfrm>
            <a:off x="7452360" y="3813048"/>
            <a:ext cx="4190695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Коридор 2 полоса"/>
          <p:cNvSpPr/>
          <p:nvPr/>
        </p:nvSpPr>
        <p:spPr>
          <a:xfrm>
            <a:off x="8709569" y="3813048"/>
            <a:ext cx="1676278" cy="146304"/>
          </a:xfrm>
          <a:prstGeom prst="roundRect">
            <a:avLst>
              <a:gd name="adj" fmla="val 50000"/>
            </a:avLst>
          </a:prstGeom>
          <a:solidFill>
            <a:srgbClr val="BD8828"/>
          </a:solidFill>
          <a:ln/>
        </p:spPr>
      </p:sp>
      <p:sp>
        <p:nvSpPr>
          <p:cNvPr id="17" name="Коридор 2 центр"/>
          <p:cNvSpPr/>
          <p:nvPr/>
        </p:nvSpPr>
        <p:spPr>
          <a:xfrm>
            <a:off x="9547708" y="3758184"/>
            <a:ext cx="0" cy="256032"/>
          </a:xfrm>
          <a:prstGeom prst="line">
            <a:avLst/>
          </a:prstGeom>
          <a:noFill/>
          <a:ln w="12700">
            <a:solidFill>
              <a:srgbClr val="F2EBDD"/>
            </a:solidFill>
            <a:prstDash val="solid"/>
          </a:ln>
        </p:spPr>
      </p:sp>
      <p:sp>
        <p:nvSpPr>
          <p:cNvPr id="18" name="Коридор 3 название"/>
          <p:cNvSpPr txBox="1"/>
          <p:nvPr/>
        </p:nvSpPr>
        <p:spPr>
          <a:xfrm>
            <a:off x="7452360" y="4215384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 августа 1993</a:t>
            </a:r>
            <a:endParaRPr lang="en-US" sz="1300" dirty="0"/>
          </a:p>
        </p:txBody>
      </p:sp>
      <p:sp>
        <p:nvSpPr>
          <p:cNvPr id="19" name="Коридор 3 ширина"/>
          <p:cNvSpPr txBox="1"/>
          <p:nvPr/>
        </p:nvSpPr>
        <p:spPr>
          <a:xfrm>
            <a:off x="10911535" y="42153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±15%</a:t>
            </a:r>
            <a:endParaRPr lang="en-US" sz="1300" dirty="0"/>
          </a:p>
        </p:txBody>
      </p:sp>
      <p:sp>
        <p:nvSpPr>
          <p:cNvPr id="20" name="Коридор 3 шкала"/>
          <p:cNvSpPr/>
          <p:nvPr/>
        </p:nvSpPr>
        <p:spPr>
          <a:xfrm>
            <a:off x="7452360" y="4526280"/>
            <a:ext cx="4190695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Коридор 3 полоса"/>
          <p:cNvSpPr/>
          <p:nvPr/>
        </p:nvSpPr>
        <p:spPr>
          <a:xfrm>
            <a:off x="7452360" y="4526280"/>
            <a:ext cx="4190695" cy="146304"/>
          </a:xfrm>
          <a:prstGeom prst="roundRect">
            <a:avLst>
              <a:gd name="adj" fmla="val 50000"/>
            </a:avLst>
          </a:prstGeom>
          <a:solidFill>
            <a:srgbClr val="4F98DC"/>
          </a:solidFill>
          <a:ln/>
        </p:spPr>
      </p:sp>
      <p:sp>
        <p:nvSpPr>
          <p:cNvPr id="22" name="Коридор 3 центр"/>
          <p:cNvSpPr/>
          <p:nvPr/>
        </p:nvSpPr>
        <p:spPr>
          <a:xfrm>
            <a:off x="9547708" y="4471416"/>
            <a:ext cx="0" cy="256032"/>
          </a:xfrm>
          <a:prstGeom prst="line">
            <a:avLst/>
          </a:prstGeom>
          <a:noFill/>
          <a:ln w="12700">
            <a:solidFill>
              <a:srgbClr val="F2EBDD"/>
            </a:solidFill>
            <a:prstDash val="solid"/>
          </a:ln>
        </p:spPr>
      </p:sp>
      <p:sp>
        <p:nvSpPr>
          <p:cNvPr id="23" name="Шкала −15%"/>
          <p:cNvSpPr txBox="1"/>
          <p:nvPr/>
        </p:nvSpPr>
        <p:spPr>
          <a:xfrm>
            <a:off x="7452360" y="4937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1100" dirty="0"/>
          </a:p>
        </p:txBody>
      </p:sp>
      <p:sp>
        <p:nvSpPr>
          <p:cNvPr id="24" name="Шкала −6%"/>
          <p:cNvSpPr txBox="1"/>
          <p:nvPr/>
        </p:nvSpPr>
        <p:spPr>
          <a:xfrm>
            <a:off x="8389529" y="4937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−6%</a:t>
            </a:r>
            <a:endParaRPr lang="en-US" sz="1100" dirty="0"/>
          </a:p>
        </p:txBody>
      </p:sp>
      <p:sp>
        <p:nvSpPr>
          <p:cNvPr id="25" name="Шкала 0"/>
          <p:cNvSpPr txBox="1"/>
          <p:nvPr/>
        </p:nvSpPr>
        <p:spPr>
          <a:xfrm>
            <a:off x="9227668" y="4937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6" name="Шкала +6%"/>
          <p:cNvSpPr txBox="1"/>
          <p:nvPr/>
        </p:nvSpPr>
        <p:spPr>
          <a:xfrm>
            <a:off x="10065807" y="4937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</a:t>
            </a:r>
            <a:endParaRPr lang="en-US" sz="1100" dirty="0"/>
          </a:p>
        </p:txBody>
      </p:sp>
      <p:sp>
        <p:nvSpPr>
          <p:cNvPr id="27" name="Шкала +15%"/>
          <p:cNvSpPr txBox="1"/>
          <p:nvPr/>
        </p:nvSpPr>
        <p:spPr>
          <a:xfrm>
            <a:off x="11002975" y="4937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100" dirty="0"/>
          </a:p>
        </p:txBody>
      </p:sp>
      <p:sp>
        <p:nvSpPr>
          <p:cNvPr id="28" name="Вывод о коридоре"/>
          <p:cNvSpPr txBox="1"/>
          <p:nvPr/>
        </p:nvSpPr>
        <p:spPr>
          <a:xfrm>
            <a:off x="7452360" y="5285232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Формально ERM сохранился, но коридор шириной 30% сделал курсы почти плавающими.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III · ПОСЛЕДСТВИЯ И ВЫВОДЫ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И. С. ТАТЬЯНЧЕНКО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Последствия для Великобритании и Италии</a:t>
            </a:r>
            <a:endParaRPr lang="en-US" sz="3400" dirty="0"/>
          </a:p>
        </p:txBody>
      </p:sp>
      <p:graphicFrame>
        <p:nvGraphicFramePr>
          <p:cNvPr id="5" name="График ставки Банка Англии" descr=""/>
          <p:cNvGraphicFramePr/>
          <p:nvPr/>
        </p:nvGraphicFramePr>
        <p:xfrm>
          <a:off x="457200" y="1600200"/>
          <a:ext cx="65836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Пояснение к графику"/>
          <p:cNvSpPr txBox="1"/>
          <p:nvPr/>
        </p:nvSpPr>
        <p:spPr>
          <a:xfrm>
            <a:off x="548640" y="55595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16.09.1992 ставку подняли до 12% и объявили 15%, но 15% так и не ввели: вечером Великобритания вышла из ERM.</a:t>
            </a:r>
            <a:endParaRPr lang="en-US" sz="1200" dirty="0"/>
          </a:p>
        </p:txBody>
      </p:sp>
      <p:sp>
        <p:nvSpPr>
          <p:cNvPr id="7" name="Линия Великобритания"/>
          <p:cNvSpPr/>
          <p:nvPr/>
        </p:nvSpPr>
        <p:spPr>
          <a:xfrm>
            <a:off x="7452360" y="1691640"/>
            <a:ext cx="4190695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8" name="Заголовок Великобритания"/>
          <p:cNvSpPr txBox="1"/>
          <p:nvPr/>
        </p:nvSpPr>
        <p:spPr>
          <a:xfrm>
            <a:off x="7452360" y="1810512"/>
            <a:ext cx="4190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Великобритания</a:t>
            </a:r>
            <a:endParaRPr lang="en-US" sz="1800" dirty="0"/>
          </a:p>
        </p:txBody>
      </p:sp>
      <p:sp>
        <p:nvSpPr>
          <p:cNvPr id="9" name="Великобритания"/>
          <p:cNvSpPr txBox="1"/>
          <p:nvPr/>
        </p:nvSpPr>
        <p:spPr>
          <a:xfrm>
            <a:off x="7452360" y="2194560"/>
            <a:ext cx="41906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привязки ставку снизили с 10% до 6% к январю 1993 г., спад закончился.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октября 1992 г. — таргетирование инфляции, с 1997 г. — независимость Банка Англии.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ERM страна так и не вернулась и не перешла на евро.</a:t>
            </a:r>
            <a:endParaRPr lang="en-US" sz="1400" dirty="0"/>
          </a:p>
        </p:txBody>
      </p:sp>
      <p:sp>
        <p:nvSpPr>
          <p:cNvPr id="10" name="Линия Италия"/>
          <p:cNvSpPr/>
          <p:nvPr/>
        </p:nvSpPr>
        <p:spPr>
          <a:xfrm>
            <a:off x="7452360" y="4160520"/>
            <a:ext cx="4190695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1" name="Заголовок Италия"/>
          <p:cNvSpPr txBox="1"/>
          <p:nvPr/>
        </p:nvSpPr>
        <p:spPr>
          <a:xfrm>
            <a:off x="7452360" y="4279392"/>
            <a:ext cx="4190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Италия</a:t>
            </a:r>
            <a:endParaRPr lang="en-US" sz="1800" dirty="0"/>
          </a:p>
        </p:txBody>
      </p:sp>
      <p:sp>
        <p:nvSpPr>
          <p:cNvPr id="12" name="Италия"/>
          <p:cNvSpPr txBox="1"/>
          <p:nvPr/>
        </p:nvSpPr>
        <p:spPr>
          <a:xfrm>
            <a:off x="7452360" y="4663440"/>
            <a:ext cx="4190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Девальвация поддержала экспорт, правительство резко сократило бюджетный дефицит.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–"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Лира вернулась в ERM в ноябре 1996 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III · ПОСЛЕДСТВИЯ И ВЫВОДЫ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И. С. ТАТЬЯНЧЕНКО</a:t>
            </a:r>
            <a:endParaRPr lang="en-US" sz="11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кризиса и выводы</a:t>
            </a:r>
            <a:endParaRPr lang="en-US" sz="3400" dirty="0"/>
          </a:p>
        </p:txBody>
      </p:sp>
      <p:sp>
        <p:nvSpPr>
          <p:cNvPr id="5" name="Итог для Европы фон"/>
          <p:cNvSpPr/>
          <p:nvPr/>
        </p:nvSpPr>
        <p:spPr>
          <a:xfrm>
            <a:off x="548640" y="1691640"/>
            <a:ext cx="3886200" cy="3017520"/>
          </a:xfrm>
          <a:prstGeom prst="roundRect">
            <a:avLst>
              <a:gd name="adj" fmla="val 363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Итог для Европы метка"/>
          <p:cNvSpPr txBox="1"/>
          <p:nvPr/>
        </p:nvSpPr>
        <p:spPr>
          <a:xfrm>
            <a:off x="804672" y="1847088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DB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ДЛЯ ЕВРОПЫ</a:t>
            </a:r>
            <a:endParaRPr lang="en-US" sz="1050" dirty="0"/>
          </a:p>
        </p:txBody>
      </p:sp>
      <p:sp>
        <p:nvSpPr>
          <p:cNvPr id="7" name="Итог для Европы текст"/>
          <p:cNvSpPr txBox="1"/>
          <p:nvPr/>
        </p:nvSpPr>
        <p:spPr>
          <a:xfrm>
            <a:off x="804672" y="2176272"/>
            <a:ext cx="3374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свободном движении капитала остаётся выбор только между плавающими курсами и единой валютой. ЕС выбрал единую валюту.</a:t>
            </a:r>
            <a:endParaRPr lang="en-US" sz="1400" dirty="0"/>
          </a:p>
        </p:txBody>
      </p:sp>
      <p:sp>
        <p:nvSpPr>
          <p:cNvPr id="8" name="Путь к евро"/>
          <p:cNvSpPr txBox="1"/>
          <p:nvPr/>
        </p:nvSpPr>
        <p:spPr>
          <a:xfrm>
            <a:off x="804672" y="3291840"/>
            <a:ext cx="3374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1993–1998</a:t>
            </a: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ERM с коридором ±15%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создан Европейский центральный банк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–"/>
            </a:pPr>
            <a:r>
              <a:rPr lang="en-US" sz="14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r>
              <a:rPr lang="en-US" sz="14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евро в 11 странах</a:t>
            </a:r>
            <a:endParaRPr lang="en-US" sz="1400" dirty="0"/>
          </a:p>
        </p:txBody>
      </p:sp>
      <p:sp>
        <p:nvSpPr>
          <p:cNvPr id="9" name="Урок 1 линия"/>
          <p:cNvSpPr/>
          <p:nvPr/>
        </p:nvSpPr>
        <p:spPr>
          <a:xfrm>
            <a:off x="4846320" y="1691640"/>
            <a:ext cx="323834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0" name="Урок 1"/>
          <p:cNvSpPr txBox="1"/>
          <p:nvPr/>
        </p:nvSpPr>
        <p:spPr>
          <a:xfrm>
            <a:off x="4846320" y="1819656"/>
            <a:ext cx="3238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Трилемму не обойти</a:t>
            </a:r>
            <a:endParaRPr lang="en-US" sz="1600" dirty="0"/>
          </a:p>
        </p:txBody>
      </p:sp>
      <p:sp>
        <p:nvSpPr>
          <p:cNvPr id="11" name="Урок 1 текст"/>
          <p:cNvSpPr txBox="1"/>
          <p:nvPr/>
        </p:nvSpPr>
        <p:spPr>
          <a:xfrm>
            <a:off x="4846320" y="2167128"/>
            <a:ext cx="3238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Фиксированный курс, свободный капитал и разное положение экономик несовместимы.</a:t>
            </a:r>
            <a:endParaRPr lang="en-US" sz="1350" dirty="0"/>
          </a:p>
        </p:txBody>
      </p:sp>
      <p:sp>
        <p:nvSpPr>
          <p:cNvPr id="12" name="Урок 2 линия"/>
          <p:cNvSpPr/>
          <p:nvPr/>
        </p:nvSpPr>
        <p:spPr>
          <a:xfrm>
            <a:off x="8404708" y="1691640"/>
            <a:ext cx="323834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3" name="Урок 2"/>
          <p:cNvSpPr txBox="1"/>
          <p:nvPr/>
        </p:nvSpPr>
        <p:spPr>
          <a:xfrm>
            <a:off x="8404708" y="1819656"/>
            <a:ext cx="3238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не купить ставкой</a:t>
            </a:r>
            <a:endParaRPr lang="en-US" sz="1600" dirty="0"/>
          </a:p>
        </p:txBody>
      </p:sp>
      <p:sp>
        <p:nvSpPr>
          <p:cNvPr id="14" name="Урок 2 текст"/>
          <p:cNvSpPr txBox="1"/>
          <p:nvPr/>
        </p:nvSpPr>
        <p:spPr>
          <a:xfrm>
            <a:off x="8404708" y="2167128"/>
            <a:ext cx="3238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рецессии угроза держать ставку 15% неубедительна: рынок знает, что правительство не выдержит.</a:t>
            </a:r>
            <a:endParaRPr lang="en-US" sz="1350" dirty="0"/>
          </a:p>
        </p:txBody>
      </p:sp>
      <p:sp>
        <p:nvSpPr>
          <p:cNvPr id="15" name="Урок 3 линия"/>
          <p:cNvSpPr/>
          <p:nvPr/>
        </p:nvSpPr>
        <p:spPr>
          <a:xfrm>
            <a:off x="4846320" y="3227832"/>
            <a:ext cx="323834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6" name="Урок 3"/>
          <p:cNvSpPr txBox="1"/>
          <p:nvPr/>
        </p:nvSpPr>
        <p:spPr>
          <a:xfrm>
            <a:off x="4846320" y="3355848"/>
            <a:ext cx="3238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Резервы конечны</a:t>
            </a:r>
            <a:endParaRPr lang="en-US" sz="1600" dirty="0"/>
          </a:p>
        </p:txBody>
      </p:sp>
      <p:sp>
        <p:nvSpPr>
          <p:cNvPr id="17" name="Урок 3 текст"/>
          <p:cNvSpPr txBox="1"/>
          <p:nvPr/>
        </p:nvSpPr>
        <p:spPr>
          <a:xfrm>
            <a:off x="4846320" y="3703320"/>
            <a:ext cx="3238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может мобилизовать больше средств, чем любой центральный банк.</a:t>
            </a:r>
            <a:endParaRPr lang="en-US" sz="1350" dirty="0"/>
          </a:p>
        </p:txBody>
      </p:sp>
      <p:sp>
        <p:nvSpPr>
          <p:cNvPr id="18" name="Урок 4 линия"/>
          <p:cNvSpPr/>
          <p:nvPr/>
        </p:nvSpPr>
        <p:spPr>
          <a:xfrm>
            <a:off x="8404708" y="3227832"/>
            <a:ext cx="3238348" cy="0"/>
          </a:xfrm>
          <a:prstGeom prst="line">
            <a:avLst/>
          </a:prstGeom>
          <a:noFill/>
          <a:ln w="9525">
            <a:solidFill>
              <a:srgbClr val="F2EBDD">
                <a:alpha val="25000"/>
              </a:srgbClr>
            </a:solidFill>
            <a:prstDash val="solid"/>
          </a:ln>
        </p:spPr>
      </p:sp>
      <p:sp>
        <p:nvSpPr>
          <p:cNvPr id="19" name="Урок 4"/>
          <p:cNvSpPr txBox="1"/>
          <p:nvPr/>
        </p:nvSpPr>
        <p:spPr>
          <a:xfrm>
            <a:off x="8404708" y="3355848"/>
            <a:ext cx="32383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 нельзя откладывать</a:t>
            </a:r>
            <a:endParaRPr lang="en-US" sz="1600" dirty="0"/>
          </a:p>
        </p:txBody>
      </p:sp>
      <p:sp>
        <p:nvSpPr>
          <p:cNvPr id="20" name="Урок 4 текст"/>
          <p:cNvSpPr txBox="1"/>
          <p:nvPr/>
        </p:nvSpPr>
        <p:spPr>
          <a:xfrm>
            <a:off x="8404708" y="3703320"/>
            <a:ext cx="3238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Перекосы, копившиеся в 1987–1992 гг., разрядились разом.</a:t>
            </a:r>
            <a:endParaRPr lang="en-US" sz="1350" dirty="0"/>
          </a:p>
        </p:txBody>
      </p:sp>
      <p:sp>
        <p:nvSpPr>
          <p:cNvPr id="21" name="Главный вывод"/>
          <p:cNvSpPr txBox="1"/>
          <p:nvPr/>
        </p:nvSpPr>
        <p:spPr>
          <a:xfrm>
            <a:off x="548640" y="4983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Кризис ЕВС вызвали не спекулянты, а противоречие между общей валютной привязкой и национальной экономической политикой. Спекулянты лишь первыми это заметили.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ильош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434340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B560"/>
                </a:solidFill>
              </a:rPr>
              <a:t>ЗАКЛЮЧЕНИЕ</a:t>
            </a:r>
            <a:endParaRPr lang="en-US" sz="11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071055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9A968F"/>
                </a:solidFill>
              </a:rPr>
              <a:t>ДОКЛАДЧИК · И. С. ТАТЬЯНЧЕНКО</a:t>
            </a:r>
            <a:endParaRPr lang="en-US" sz="1100" dirty="0"/>
          </a:p>
        </p:txBody>
      </p:sp>
      <p:sp>
        <p:nvSpPr>
          <p:cNvPr id="5" name="Text 0"/>
          <p:cNvSpPr/>
          <p:nvPr>
            <p:ph idx="102" type="title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источников</a:t>
            </a:r>
            <a:endParaRPr lang="en-US" sz="3400" dirty="0"/>
          </a:p>
        </p:txBody>
      </p:sp>
      <p:sp>
        <p:nvSpPr>
          <p:cNvPr id="6" name="Источники"/>
          <p:cNvSpPr txBox="1"/>
          <p:nvPr/>
        </p:nvSpPr>
        <p:spPr>
          <a:xfrm>
            <a:off x="548640" y="16916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Эйхенгрин Б. Глобализация капитала: история международной денежной системы / пер. с англ. — М.: Дело, 2009.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Eichengreen B., Wyplosz C. The Unstable EMS // Brookings Papers on Economic Activity. — 1993. — № 1. — P. 51–143.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Buiter W., Corsetti G., Pesenti P. Financial Markets and European Monetary Cooperation: The Lessons of the 1992–93 Exchange Rate Mechanism Crisis. — Cambridge University Press, 1998.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Treasury. Документы о выходе Великобритании из ERM, раскрытые в 2005 г.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England. Quarterly Bulletin, 1992–1993.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Bundesbank. Annual Report 1992. — Frankfurt am Main, 1993.</a:t>
            </a:r>
            <a:endParaRPr lang="en-US" sz="1300" dirty="0"/>
          </a:p>
        </p:txBody>
      </p:sp>
      <p:sp>
        <p:nvSpPr>
          <p:cNvPr id="7" name="Спасибо за внимание"/>
          <p:cNvSpPr txBox="1"/>
          <p:nvPr/>
        </p:nvSpPr>
        <p:spPr>
          <a:xfrm>
            <a:off x="7818120" y="1691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DDB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внимание</a:t>
            </a:r>
            <a:endParaRPr lang="en-US" sz="4000" dirty="0"/>
          </a:p>
        </p:txBody>
      </p:sp>
      <p:sp>
        <p:nvSpPr>
          <p:cNvPr id="8" name="Вопросы"/>
          <p:cNvSpPr txBox="1"/>
          <p:nvPr/>
        </p:nvSpPr>
        <p:spPr>
          <a:xfrm>
            <a:off x="781812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4B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ответить на вопросы.</a:t>
            </a:r>
            <a:endParaRPr lang="en-US" sz="1700" dirty="0"/>
          </a:p>
        </p:txBody>
      </p:sp>
      <p:sp>
        <p:nvSpPr>
          <p:cNvPr id="9" name="Состав группы"/>
          <p:cNvSpPr txBox="1"/>
          <p:nvPr/>
        </p:nvSpPr>
        <p:spPr>
          <a:xfrm>
            <a:off x="7818120" y="3657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2: Н. Р. Аверьянов, Е. А. Гордеев, И. С. Татьянченко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36208"/>
            <a:ext cx="91440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200">
                <a:solidFill>
                  <a:srgbClr val="F2EBDD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Кризис ЕВС">
  <a:themeElements>
    <a:clrScheme name="Кризис ЕВС">
      <a:dk1>
        <a:srgbClr val="131A2A"/>
      </a:dk1>
      <a:lt1>
        <a:srgbClr val="FFFFFF"/>
      </a:lt1>
      <a:dk2>
        <a:srgbClr val="1B2D4F"/>
      </a:dk2>
      <a:lt2>
        <a:srgbClr val="F2EBDD"/>
      </a:lt2>
      <a:accent1>
        <a:srgbClr val="DDB560"/>
      </a:accent1>
      <a:accent2>
        <a:srgbClr val="4F98DC"/>
      </a:accent2>
      <a:accent3>
        <a:srgbClr val="BD8828"/>
      </a:accent3>
      <a:accent4>
        <a:srgbClr val="FF9C85"/>
      </a:accent4>
      <a:accent5>
        <a:srgbClr val="44203A"/>
      </a:accent5>
      <a:accent6>
        <a:srgbClr val="1B3F37"/>
      </a:accent6>
      <a:hlink>
        <a:srgbClr val="A9CCF0"/>
      </a:hlink>
      <a:folHlink>
        <a:srgbClr val="DDB560"/>
      </a:folHlink>
    </a:clrScheme>
    <a:fontScheme name="Кризис ЕВС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Кризис Европейской валютной системы 1992–1993 гг.</dc:title>
  <dc:subject>PptxGenJS Presentation</dc:subject>
  <dc:creator>Группа 2</dc:creator>
  <cp:lastModifiedBy>Группа 2</cp:lastModifiedBy>
  <cp:revision>1</cp:revision>
  <dcterms:created xsi:type="dcterms:W3CDTF">2026-10-07T12:00:22Z</dcterms:created>
  <dcterms:modified xsi:type="dcterms:W3CDTF">2026-10-07T12:00:22Z</dcterms:modified>
</cp:coreProperties>
</file>