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Рыночный курс</c:v>
                </c:pt>
              </c:strCache>
            </c:strRef>
          </c:tx>
          <c:spPr>
            <a:solidFill>
              <a:srgbClr val="1B1406"/>
            </a:solidFill>
            <a:ln w="25400" cap="flat">
              <a:solidFill>
                <a:srgbClr val="1B14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1406"/>
              </a:solidFill>
              <a:ln w="9525" cap="flat">
                <a:solidFill>
                  <a:srgbClr val="1B14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</c:lvl>
              </c:multiLvlStrCache>
            </c:multiLvlStrRef>
          </c:cat>
          <c:val>
            <c:numRef>
              <c:f>Sheet1!$B$2:$B$122</c:f>
              <c:numCache>
                <c:formatCode>General</c:formatCode>
                <c:ptCount val="121"/>
                <c:pt idx="0">
                  <c:v>4.86956</c:v>
                </c:pt>
                <c:pt idx="1">
                  <c:v>4.87313</c:v>
                </c:pt>
                <c:pt idx="2">
                  <c:v>4.8761</c:v>
                </c:pt>
                <c:pt idx="3">
                  <c:v>4.87833</c:v>
                </c:pt>
                <c:pt idx="4">
                  <c:v>4.87978</c:v>
                </c:pt>
                <c:pt idx="5">
                  <c:v>4.88048</c:v>
                </c:pt>
                <c:pt idx="6">
                  <c:v>4.88055</c:v>
                </c:pt>
                <c:pt idx="7">
                  <c:v>4.88016</c:v>
                </c:pt>
                <c:pt idx="8">
                  <c:v>4.87953</c:v>
                </c:pt>
                <c:pt idx="9">
                  <c:v>4.87889</c:v>
                </c:pt>
                <c:pt idx="10">
                  <c:v>4.87843</c:v>
                </c:pt>
                <c:pt idx="11">
                  <c:v>4.8783</c:v>
                </c:pt>
                <c:pt idx="12">
                  <c:v>4.87859</c:v>
                </c:pt>
                <c:pt idx="13">
                  <c:v>4.8793</c:v>
                </c:pt>
                <c:pt idx="14">
                  <c:v>4.88035</c:v>
                </c:pt>
                <c:pt idx="15">
                  <c:v>4.88158</c:v>
                </c:pt>
                <c:pt idx="16">
                  <c:v>4.88281</c:v>
                </c:pt>
                <c:pt idx="17">
                  <c:v>4.8838</c:v>
                </c:pt>
                <c:pt idx="18">
                  <c:v>4.88435</c:v>
                </c:pt>
                <c:pt idx="19">
                  <c:v>4.88426</c:v>
                </c:pt>
                <c:pt idx="20">
                  <c:v>4.88343</c:v>
                </c:pt>
                <c:pt idx="21">
                  <c:v>4.88182</c:v>
                </c:pt>
                <c:pt idx="22">
                  <c:v>4.87947</c:v>
                </c:pt>
                <c:pt idx="23">
                  <c:v>4.87652</c:v>
                </c:pt>
                <c:pt idx="24">
                  <c:v>4.87317</c:v>
                </c:pt>
                <c:pt idx="25">
                  <c:v>4.86968</c:v>
                </c:pt>
                <c:pt idx="26">
                  <c:v>4.86632</c:v>
                </c:pt>
                <c:pt idx="27">
                  <c:v>4.86335</c:v>
                </c:pt>
                <c:pt idx="28">
                  <c:v>4.86098</c:v>
                </c:pt>
                <c:pt idx="29">
                  <c:v>4.85938</c:v>
                </c:pt>
                <c:pt idx="30">
                  <c:v>4.85861</c:v>
                </c:pt>
                <c:pt idx="31">
                  <c:v>4.85864</c:v>
                </c:pt>
                <c:pt idx="32">
                  <c:v>4.85938</c:v>
                </c:pt>
                <c:pt idx="33">
                  <c:v>4.86063</c:v>
                </c:pt>
                <c:pt idx="34">
                  <c:v>4.86217</c:v>
                </c:pt>
                <c:pt idx="35">
                  <c:v>4.86377</c:v>
                </c:pt>
                <c:pt idx="36">
                  <c:v>4.86517</c:v>
                </c:pt>
                <c:pt idx="37">
                  <c:v>4.8662</c:v>
                </c:pt>
                <c:pt idx="38">
                  <c:v>4.86671</c:v>
                </c:pt>
                <c:pt idx="39">
                  <c:v>4.86667</c:v>
                </c:pt>
                <c:pt idx="40">
                  <c:v>4.86611</c:v>
                </c:pt>
                <c:pt idx="41">
                  <c:v>4.86514</c:v>
                </c:pt>
                <c:pt idx="42">
                  <c:v>4.86392</c:v>
                </c:pt>
                <c:pt idx="43">
                  <c:v>4.86268</c:v>
                </c:pt>
                <c:pt idx="44">
                  <c:v>4.86162</c:v>
                </c:pt>
                <c:pt idx="45">
                  <c:v>4.86094</c:v>
                </c:pt>
                <c:pt idx="46">
                  <c:v>4.86079</c:v>
                </c:pt>
                <c:pt idx="47">
                  <c:v>4.86124</c:v>
                </c:pt>
                <c:pt idx="48">
                  <c:v>4.86228</c:v>
                </c:pt>
                <c:pt idx="49">
                  <c:v>4.86382</c:v>
                </c:pt>
                <c:pt idx="50">
                  <c:v>4.86569</c:v>
                </c:pt>
                <c:pt idx="51">
                  <c:v>4.86768</c:v>
                </c:pt>
                <c:pt idx="52">
                  <c:v>4.86953</c:v>
                </c:pt>
                <c:pt idx="53">
                  <c:v>4.87099</c:v>
                </c:pt>
                <c:pt idx="54">
                  <c:v>4.87187</c:v>
                </c:pt>
                <c:pt idx="55">
                  <c:v>4.87199</c:v>
                </c:pt>
                <c:pt idx="56">
                  <c:v>4.8713</c:v>
                </c:pt>
                <c:pt idx="57">
                  <c:v>4.8698</c:v>
                </c:pt>
                <c:pt idx="58">
                  <c:v>4.8676</c:v>
                </c:pt>
                <c:pt idx="59">
                  <c:v>4.86489</c:v>
                </c:pt>
                <c:pt idx="60">
                  <c:v>4.86189</c:v>
                </c:pt>
                <c:pt idx="61">
                  <c:v>4.85889</c:v>
                </c:pt>
                <c:pt idx="62">
                  <c:v>4.85613</c:v>
                </c:pt>
                <c:pt idx="63">
                  <c:v>4.85385</c:v>
                </c:pt>
                <c:pt idx="64">
                  <c:v>4.85222</c:v>
                </c:pt>
                <c:pt idx="65">
                  <c:v>4.85133</c:v>
                </c:pt>
                <c:pt idx="66">
                  <c:v>4.85118</c:v>
                </c:pt>
                <c:pt idx="67">
                  <c:v>4.8517</c:v>
                </c:pt>
                <c:pt idx="68">
                  <c:v>4.85274</c:v>
                </c:pt>
                <c:pt idx="69">
                  <c:v>4.85409</c:v>
                </c:pt>
                <c:pt idx="70">
                  <c:v>4.85553</c:v>
                </c:pt>
                <c:pt idx="71">
                  <c:v>4.85685</c:v>
                </c:pt>
                <c:pt idx="72">
                  <c:v>4.85787</c:v>
                </c:pt>
                <c:pt idx="73">
                  <c:v>4.85848</c:v>
                </c:pt>
                <c:pt idx="74">
                  <c:v>4.85863</c:v>
                </c:pt>
                <c:pt idx="75">
                  <c:v>4.85837</c:v>
                </c:pt>
                <c:pt idx="76">
                  <c:v>4.85781</c:v>
                </c:pt>
                <c:pt idx="77">
                  <c:v>4.85714</c:v>
                </c:pt>
                <c:pt idx="78">
                  <c:v>4.85657</c:v>
                </c:pt>
                <c:pt idx="79">
                  <c:v>4.85633</c:v>
                </c:pt>
                <c:pt idx="80">
                  <c:v>4.85662</c:v>
                </c:pt>
                <c:pt idx="81">
                  <c:v>4.85761</c:v>
                </c:pt>
                <c:pt idx="82">
                  <c:v>4.85936</c:v>
                </c:pt>
                <c:pt idx="83">
                  <c:v>4.86187</c:v>
                </c:pt>
                <c:pt idx="84">
                  <c:v>4.86505</c:v>
                </c:pt>
                <c:pt idx="85">
                  <c:v>4.86873</c:v>
                </c:pt>
                <c:pt idx="86">
                  <c:v>4.87267</c:v>
                </c:pt>
                <c:pt idx="87">
                  <c:v>4.87661</c:v>
                </c:pt>
                <c:pt idx="88">
                  <c:v>4.88026</c:v>
                </c:pt>
                <c:pt idx="89">
                  <c:v>4.88337</c:v>
                </c:pt>
                <c:pt idx="90">
                  <c:v>4.88575</c:v>
                </c:pt>
                <c:pt idx="91">
                  <c:v>4.88727</c:v>
                </c:pt>
                <c:pt idx="92">
                  <c:v>4.88791</c:v>
                </c:pt>
                <c:pt idx="93">
                  <c:v>4.88772</c:v>
                </c:pt>
                <c:pt idx="94">
                  <c:v>4.88684</c:v>
                </c:pt>
                <c:pt idx="95">
                  <c:v>4.88545</c:v>
                </c:pt>
                <c:pt idx="96">
                  <c:v>4.88381</c:v>
                </c:pt>
                <c:pt idx="97">
                  <c:v>4.88213</c:v>
                </c:pt>
                <c:pt idx="98">
                  <c:v>4.88064</c:v>
                </c:pt>
                <c:pt idx="99">
                  <c:v>4.87949</c:v>
                </c:pt>
                <c:pt idx="100">
                  <c:v>4.87877</c:v>
                </c:pt>
                <c:pt idx="101">
                  <c:v>4.87848</c:v>
                </c:pt>
                <c:pt idx="102">
                  <c:v>4.87855</c:v>
                </c:pt>
                <c:pt idx="103">
                  <c:v>4.87883</c:v>
                </c:pt>
                <c:pt idx="104">
                  <c:v>4.87914</c:v>
                </c:pt>
                <c:pt idx="105">
                  <c:v>4.87926</c:v>
                </c:pt>
                <c:pt idx="106">
                  <c:v>4.87899</c:v>
                </c:pt>
                <c:pt idx="107">
                  <c:v>4.87815</c:v>
                </c:pt>
                <c:pt idx="108">
                  <c:v>4.87666</c:v>
                </c:pt>
                <c:pt idx="109">
                  <c:v>4.87448</c:v>
                </c:pt>
                <c:pt idx="110">
                  <c:v>4.87168</c:v>
                </c:pt>
                <c:pt idx="111">
                  <c:v>4.8684</c:v>
                </c:pt>
                <c:pt idx="112">
                  <c:v>4.86486</c:v>
                </c:pt>
                <c:pt idx="113">
                  <c:v>4.8613</c:v>
                </c:pt>
                <c:pt idx="114">
                  <c:v>4.85799</c:v>
                </c:pt>
                <c:pt idx="115">
                  <c:v>4.85519</c:v>
                </c:pt>
                <c:pt idx="116">
                  <c:v>4.8531</c:v>
                </c:pt>
                <c:pt idx="117">
                  <c:v>4.85185</c:v>
                </c:pt>
                <c:pt idx="118">
                  <c:v>4.8515</c:v>
                </c:pt>
                <c:pt idx="119">
                  <c:v>4.85199</c:v>
                </c:pt>
                <c:pt idx="120">
                  <c:v>4.8532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Паритет 4,8665</c:v>
                </c:pt>
              </c:strCache>
            </c:strRef>
          </c:tx>
          <c:spPr>
            <a:solidFill>
              <a:srgbClr val="8E3226"/>
            </a:solidFill>
            <a:ln w="25400" cap="flat">
              <a:solidFill>
                <a:srgbClr val="8E32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E3226"/>
              </a:solidFill>
              <a:ln w="9525" cap="flat">
                <a:solidFill>
                  <a:srgbClr val="8E32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</c:lvl>
              </c:multiLvlStrCache>
            </c:multiLvlStrRef>
          </c:cat>
          <c:val>
            <c:numRef>
              <c:f>Sheet1!$C$2:$C$122</c:f>
              <c:numCache>
                <c:formatCode>General</c:formatCode>
                <c:ptCount val="121"/>
                <c:pt idx="0">
                  <c:v>4.8665</c:v>
                </c:pt>
                <c:pt idx="1">
                  <c:v>4.8665</c:v>
                </c:pt>
                <c:pt idx="2">
                  <c:v>4.8665</c:v>
                </c:pt>
                <c:pt idx="3">
                  <c:v>4.8665</c:v>
                </c:pt>
                <c:pt idx="4">
                  <c:v>4.8665</c:v>
                </c:pt>
                <c:pt idx="5">
                  <c:v>4.8665</c:v>
                </c:pt>
                <c:pt idx="6">
                  <c:v>4.8665</c:v>
                </c:pt>
                <c:pt idx="7">
                  <c:v>4.8665</c:v>
                </c:pt>
                <c:pt idx="8">
                  <c:v>4.8665</c:v>
                </c:pt>
                <c:pt idx="9">
                  <c:v>4.8665</c:v>
                </c:pt>
                <c:pt idx="10">
                  <c:v>4.8665</c:v>
                </c:pt>
                <c:pt idx="11">
                  <c:v>4.8665</c:v>
                </c:pt>
                <c:pt idx="12">
                  <c:v>4.8665</c:v>
                </c:pt>
                <c:pt idx="13">
                  <c:v>4.8665</c:v>
                </c:pt>
                <c:pt idx="14">
                  <c:v>4.8665</c:v>
                </c:pt>
                <c:pt idx="15">
                  <c:v>4.8665</c:v>
                </c:pt>
                <c:pt idx="16">
                  <c:v>4.8665</c:v>
                </c:pt>
                <c:pt idx="17">
                  <c:v>4.8665</c:v>
                </c:pt>
                <c:pt idx="18">
                  <c:v>4.8665</c:v>
                </c:pt>
                <c:pt idx="19">
                  <c:v>4.8665</c:v>
                </c:pt>
                <c:pt idx="20">
                  <c:v>4.8665</c:v>
                </c:pt>
                <c:pt idx="21">
                  <c:v>4.8665</c:v>
                </c:pt>
                <c:pt idx="22">
                  <c:v>4.8665</c:v>
                </c:pt>
                <c:pt idx="23">
                  <c:v>4.8665</c:v>
                </c:pt>
                <c:pt idx="24">
                  <c:v>4.8665</c:v>
                </c:pt>
                <c:pt idx="25">
                  <c:v>4.8665</c:v>
                </c:pt>
                <c:pt idx="26">
                  <c:v>4.8665</c:v>
                </c:pt>
                <c:pt idx="27">
                  <c:v>4.8665</c:v>
                </c:pt>
                <c:pt idx="28">
                  <c:v>4.8665</c:v>
                </c:pt>
                <c:pt idx="29">
                  <c:v>4.8665</c:v>
                </c:pt>
                <c:pt idx="30">
                  <c:v>4.8665</c:v>
                </c:pt>
                <c:pt idx="31">
                  <c:v>4.8665</c:v>
                </c:pt>
                <c:pt idx="32">
                  <c:v>4.8665</c:v>
                </c:pt>
                <c:pt idx="33">
                  <c:v>4.8665</c:v>
                </c:pt>
                <c:pt idx="34">
                  <c:v>4.8665</c:v>
                </c:pt>
                <c:pt idx="35">
                  <c:v>4.8665</c:v>
                </c:pt>
                <c:pt idx="36">
                  <c:v>4.8665</c:v>
                </c:pt>
                <c:pt idx="37">
                  <c:v>4.8665</c:v>
                </c:pt>
                <c:pt idx="38">
                  <c:v>4.8665</c:v>
                </c:pt>
                <c:pt idx="39">
                  <c:v>4.8665</c:v>
                </c:pt>
                <c:pt idx="40">
                  <c:v>4.8665</c:v>
                </c:pt>
                <c:pt idx="41">
                  <c:v>4.8665</c:v>
                </c:pt>
                <c:pt idx="42">
                  <c:v>4.8665</c:v>
                </c:pt>
                <c:pt idx="43">
                  <c:v>4.8665</c:v>
                </c:pt>
                <c:pt idx="44">
                  <c:v>4.8665</c:v>
                </c:pt>
                <c:pt idx="45">
                  <c:v>4.8665</c:v>
                </c:pt>
                <c:pt idx="46">
                  <c:v>4.8665</c:v>
                </c:pt>
                <c:pt idx="47">
                  <c:v>4.8665</c:v>
                </c:pt>
                <c:pt idx="48">
                  <c:v>4.8665</c:v>
                </c:pt>
                <c:pt idx="49">
                  <c:v>4.8665</c:v>
                </c:pt>
                <c:pt idx="50">
                  <c:v>4.8665</c:v>
                </c:pt>
                <c:pt idx="51">
                  <c:v>4.8665</c:v>
                </c:pt>
                <c:pt idx="52">
                  <c:v>4.8665</c:v>
                </c:pt>
                <c:pt idx="53">
                  <c:v>4.8665</c:v>
                </c:pt>
                <c:pt idx="54">
                  <c:v>4.8665</c:v>
                </c:pt>
                <c:pt idx="55">
                  <c:v>4.8665</c:v>
                </c:pt>
                <c:pt idx="56">
                  <c:v>4.8665</c:v>
                </c:pt>
                <c:pt idx="57">
                  <c:v>4.8665</c:v>
                </c:pt>
                <c:pt idx="58">
                  <c:v>4.8665</c:v>
                </c:pt>
                <c:pt idx="59">
                  <c:v>4.8665</c:v>
                </c:pt>
                <c:pt idx="60">
                  <c:v>4.8665</c:v>
                </c:pt>
                <c:pt idx="61">
                  <c:v>4.8665</c:v>
                </c:pt>
                <c:pt idx="62">
                  <c:v>4.8665</c:v>
                </c:pt>
                <c:pt idx="63">
                  <c:v>4.8665</c:v>
                </c:pt>
                <c:pt idx="64">
                  <c:v>4.8665</c:v>
                </c:pt>
                <c:pt idx="65">
                  <c:v>4.8665</c:v>
                </c:pt>
                <c:pt idx="66">
                  <c:v>4.8665</c:v>
                </c:pt>
                <c:pt idx="67">
                  <c:v>4.8665</c:v>
                </c:pt>
                <c:pt idx="68">
                  <c:v>4.8665</c:v>
                </c:pt>
                <c:pt idx="69">
                  <c:v>4.8665</c:v>
                </c:pt>
                <c:pt idx="70">
                  <c:v>4.8665</c:v>
                </c:pt>
                <c:pt idx="71">
                  <c:v>4.8665</c:v>
                </c:pt>
                <c:pt idx="72">
                  <c:v>4.8665</c:v>
                </c:pt>
                <c:pt idx="73">
                  <c:v>4.8665</c:v>
                </c:pt>
                <c:pt idx="74">
                  <c:v>4.8665</c:v>
                </c:pt>
                <c:pt idx="75">
                  <c:v>4.8665</c:v>
                </c:pt>
                <c:pt idx="76">
                  <c:v>4.8665</c:v>
                </c:pt>
                <c:pt idx="77">
                  <c:v>4.8665</c:v>
                </c:pt>
                <c:pt idx="78">
                  <c:v>4.8665</c:v>
                </c:pt>
                <c:pt idx="79">
                  <c:v>4.8665</c:v>
                </c:pt>
                <c:pt idx="80">
                  <c:v>4.8665</c:v>
                </c:pt>
                <c:pt idx="81">
                  <c:v>4.8665</c:v>
                </c:pt>
                <c:pt idx="82">
                  <c:v>4.8665</c:v>
                </c:pt>
                <c:pt idx="83">
                  <c:v>4.8665</c:v>
                </c:pt>
                <c:pt idx="84">
                  <c:v>4.8665</c:v>
                </c:pt>
                <c:pt idx="85">
                  <c:v>4.8665</c:v>
                </c:pt>
                <c:pt idx="86">
                  <c:v>4.8665</c:v>
                </c:pt>
                <c:pt idx="87">
                  <c:v>4.8665</c:v>
                </c:pt>
                <c:pt idx="88">
                  <c:v>4.8665</c:v>
                </c:pt>
                <c:pt idx="89">
                  <c:v>4.8665</c:v>
                </c:pt>
                <c:pt idx="90">
                  <c:v>4.8665</c:v>
                </c:pt>
                <c:pt idx="91">
                  <c:v>4.8665</c:v>
                </c:pt>
                <c:pt idx="92">
                  <c:v>4.8665</c:v>
                </c:pt>
                <c:pt idx="93">
                  <c:v>4.8665</c:v>
                </c:pt>
                <c:pt idx="94">
                  <c:v>4.8665</c:v>
                </c:pt>
                <c:pt idx="95">
                  <c:v>4.8665</c:v>
                </c:pt>
                <c:pt idx="96">
                  <c:v>4.8665</c:v>
                </c:pt>
                <c:pt idx="97">
                  <c:v>4.8665</c:v>
                </c:pt>
                <c:pt idx="98">
                  <c:v>4.8665</c:v>
                </c:pt>
                <c:pt idx="99">
                  <c:v>4.8665</c:v>
                </c:pt>
                <c:pt idx="100">
                  <c:v>4.8665</c:v>
                </c:pt>
                <c:pt idx="101">
                  <c:v>4.8665</c:v>
                </c:pt>
                <c:pt idx="102">
                  <c:v>4.8665</c:v>
                </c:pt>
                <c:pt idx="103">
                  <c:v>4.8665</c:v>
                </c:pt>
                <c:pt idx="104">
                  <c:v>4.8665</c:v>
                </c:pt>
                <c:pt idx="105">
                  <c:v>4.8665</c:v>
                </c:pt>
                <c:pt idx="106">
                  <c:v>4.8665</c:v>
                </c:pt>
                <c:pt idx="107">
                  <c:v>4.8665</c:v>
                </c:pt>
                <c:pt idx="108">
                  <c:v>4.8665</c:v>
                </c:pt>
                <c:pt idx="109">
                  <c:v>4.8665</c:v>
                </c:pt>
                <c:pt idx="110">
                  <c:v>4.8665</c:v>
                </c:pt>
                <c:pt idx="111">
                  <c:v>4.8665</c:v>
                </c:pt>
                <c:pt idx="112">
                  <c:v>4.8665</c:v>
                </c:pt>
                <c:pt idx="113">
                  <c:v>4.8665</c:v>
                </c:pt>
                <c:pt idx="114">
                  <c:v>4.8665</c:v>
                </c:pt>
                <c:pt idx="115">
                  <c:v>4.8665</c:v>
                </c:pt>
                <c:pt idx="116">
                  <c:v>4.8665</c:v>
                </c:pt>
                <c:pt idx="117">
                  <c:v>4.8665</c:v>
                </c:pt>
                <c:pt idx="118">
                  <c:v>4.8665</c:v>
                </c:pt>
                <c:pt idx="119">
                  <c:v>4.8665</c:v>
                </c:pt>
                <c:pt idx="120">
                  <c:v>4.8665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Точка вывоза золота 4,8908</c:v>
                </c:pt>
              </c:strCache>
            </c:strRef>
          </c:tx>
          <c:spPr>
            <a:solidFill>
              <a:srgbClr val="5C4712"/>
            </a:solidFill>
            <a:ln w="25400" cap="flat">
              <a:solidFill>
                <a:srgbClr val="5C4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4712"/>
              </a:solidFill>
              <a:ln w="9525" cap="flat">
                <a:solidFill>
                  <a:srgbClr val="5C4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</c:lvl>
              </c:multiLvlStrCache>
            </c:multiLvlStrRef>
          </c:cat>
          <c:val>
            <c:numRef>
              <c:f>Sheet1!$D$2:$D$122</c:f>
              <c:numCache>
                <c:formatCode>General</c:formatCode>
                <c:ptCount val="121"/>
                <c:pt idx="0">
                  <c:v>4.8908</c:v>
                </c:pt>
                <c:pt idx="1">
                  <c:v>4.8908</c:v>
                </c:pt>
                <c:pt idx="2">
                  <c:v>4.8908</c:v>
                </c:pt>
                <c:pt idx="3">
                  <c:v>4.8908</c:v>
                </c:pt>
                <c:pt idx="4">
                  <c:v>4.8908</c:v>
                </c:pt>
                <c:pt idx="5">
                  <c:v>4.8908</c:v>
                </c:pt>
                <c:pt idx="6">
                  <c:v>4.8908</c:v>
                </c:pt>
                <c:pt idx="7">
                  <c:v>4.8908</c:v>
                </c:pt>
                <c:pt idx="8">
                  <c:v>4.8908</c:v>
                </c:pt>
                <c:pt idx="9">
                  <c:v>4.8908</c:v>
                </c:pt>
                <c:pt idx="10">
                  <c:v>4.8908</c:v>
                </c:pt>
                <c:pt idx="11">
                  <c:v>4.8908</c:v>
                </c:pt>
                <c:pt idx="12">
                  <c:v>4.8908</c:v>
                </c:pt>
                <c:pt idx="13">
                  <c:v>4.8908</c:v>
                </c:pt>
                <c:pt idx="14">
                  <c:v>4.8908</c:v>
                </c:pt>
                <c:pt idx="15">
                  <c:v>4.8908</c:v>
                </c:pt>
                <c:pt idx="16">
                  <c:v>4.8908</c:v>
                </c:pt>
                <c:pt idx="17">
                  <c:v>4.8908</c:v>
                </c:pt>
                <c:pt idx="18">
                  <c:v>4.8908</c:v>
                </c:pt>
                <c:pt idx="19">
                  <c:v>4.8908</c:v>
                </c:pt>
                <c:pt idx="20">
                  <c:v>4.8908</c:v>
                </c:pt>
                <c:pt idx="21">
                  <c:v>4.8908</c:v>
                </c:pt>
                <c:pt idx="22">
                  <c:v>4.8908</c:v>
                </c:pt>
                <c:pt idx="23">
                  <c:v>4.8908</c:v>
                </c:pt>
                <c:pt idx="24">
                  <c:v>4.8908</c:v>
                </c:pt>
                <c:pt idx="25">
                  <c:v>4.8908</c:v>
                </c:pt>
                <c:pt idx="26">
                  <c:v>4.8908</c:v>
                </c:pt>
                <c:pt idx="27">
                  <c:v>4.8908</c:v>
                </c:pt>
                <c:pt idx="28">
                  <c:v>4.8908</c:v>
                </c:pt>
                <c:pt idx="29">
                  <c:v>4.8908</c:v>
                </c:pt>
                <c:pt idx="30">
                  <c:v>4.8908</c:v>
                </c:pt>
                <c:pt idx="31">
                  <c:v>4.8908</c:v>
                </c:pt>
                <c:pt idx="32">
                  <c:v>4.8908</c:v>
                </c:pt>
                <c:pt idx="33">
                  <c:v>4.8908</c:v>
                </c:pt>
                <c:pt idx="34">
                  <c:v>4.8908</c:v>
                </c:pt>
                <c:pt idx="35">
                  <c:v>4.8908</c:v>
                </c:pt>
                <c:pt idx="36">
                  <c:v>4.8908</c:v>
                </c:pt>
                <c:pt idx="37">
                  <c:v>4.8908</c:v>
                </c:pt>
                <c:pt idx="38">
                  <c:v>4.8908</c:v>
                </c:pt>
                <c:pt idx="39">
                  <c:v>4.8908</c:v>
                </c:pt>
                <c:pt idx="40">
                  <c:v>4.8908</c:v>
                </c:pt>
                <c:pt idx="41">
                  <c:v>4.8908</c:v>
                </c:pt>
                <c:pt idx="42">
                  <c:v>4.8908</c:v>
                </c:pt>
                <c:pt idx="43">
                  <c:v>4.8908</c:v>
                </c:pt>
                <c:pt idx="44">
                  <c:v>4.8908</c:v>
                </c:pt>
                <c:pt idx="45">
                  <c:v>4.8908</c:v>
                </c:pt>
                <c:pt idx="46">
                  <c:v>4.8908</c:v>
                </c:pt>
                <c:pt idx="47">
                  <c:v>4.8908</c:v>
                </c:pt>
                <c:pt idx="48">
                  <c:v>4.8908</c:v>
                </c:pt>
                <c:pt idx="49">
                  <c:v>4.8908</c:v>
                </c:pt>
                <c:pt idx="50">
                  <c:v>4.8908</c:v>
                </c:pt>
                <c:pt idx="51">
                  <c:v>4.8908</c:v>
                </c:pt>
                <c:pt idx="52">
                  <c:v>4.8908</c:v>
                </c:pt>
                <c:pt idx="53">
                  <c:v>4.8908</c:v>
                </c:pt>
                <c:pt idx="54">
                  <c:v>4.8908</c:v>
                </c:pt>
                <c:pt idx="55">
                  <c:v>4.8908</c:v>
                </c:pt>
                <c:pt idx="56">
                  <c:v>4.8908</c:v>
                </c:pt>
                <c:pt idx="57">
                  <c:v>4.8908</c:v>
                </c:pt>
                <c:pt idx="58">
                  <c:v>4.8908</c:v>
                </c:pt>
                <c:pt idx="59">
                  <c:v>4.8908</c:v>
                </c:pt>
                <c:pt idx="60">
                  <c:v>4.8908</c:v>
                </c:pt>
                <c:pt idx="61">
                  <c:v>4.8908</c:v>
                </c:pt>
                <c:pt idx="62">
                  <c:v>4.8908</c:v>
                </c:pt>
                <c:pt idx="63">
                  <c:v>4.8908</c:v>
                </c:pt>
                <c:pt idx="64">
                  <c:v>4.8908</c:v>
                </c:pt>
                <c:pt idx="65">
                  <c:v>4.8908</c:v>
                </c:pt>
                <c:pt idx="66">
                  <c:v>4.8908</c:v>
                </c:pt>
                <c:pt idx="67">
                  <c:v>4.8908</c:v>
                </c:pt>
                <c:pt idx="68">
                  <c:v>4.8908</c:v>
                </c:pt>
                <c:pt idx="69">
                  <c:v>4.8908</c:v>
                </c:pt>
                <c:pt idx="70">
                  <c:v>4.8908</c:v>
                </c:pt>
                <c:pt idx="71">
                  <c:v>4.8908</c:v>
                </c:pt>
                <c:pt idx="72">
                  <c:v>4.8908</c:v>
                </c:pt>
                <c:pt idx="73">
                  <c:v>4.8908</c:v>
                </c:pt>
                <c:pt idx="74">
                  <c:v>4.8908</c:v>
                </c:pt>
                <c:pt idx="75">
                  <c:v>4.8908</c:v>
                </c:pt>
                <c:pt idx="76">
                  <c:v>4.8908</c:v>
                </c:pt>
                <c:pt idx="77">
                  <c:v>4.8908</c:v>
                </c:pt>
                <c:pt idx="78">
                  <c:v>4.8908</c:v>
                </c:pt>
                <c:pt idx="79">
                  <c:v>4.8908</c:v>
                </c:pt>
                <c:pt idx="80">
                  <c:v>4.8908</c:v>
                </c:pt>
                <c:pt idx="81">
                  <c:v>4.8908</c:v>
                </c:pt>
                <c:pt idx="82">
                  <c:v>4.8908</c:v>
                </c:pt>
                <c:pt idx="83">
                  <c:v>4.8908</c:v>
                </c:pt>
                <c:pt idx="84">
                  <c:v>4.8908</c:v>
                </c:pt>
                <c:pt idx="85">
                  <c:v>4.8908</c:v>
                </c:pt>
                <c:pt idx="86">
                  <c:v>4.8908</c:v>
                </c:pt>
                <c:pt idx="87">
                  <c:v>4.8908</c:v>
                </c:pt>
                <c:pt idx="88">
                  <c:v>4.8908</c:v>
                </c:pt>
                <c:pt idx="89">
                  <c:v>4.8908</c:v>
                </c:pt>
                <c:pt idx="90">
                  <c:v>4.8908</c:v>
                </c:pt>
                <c:pt idx="91">
                  <c:v>4.8908</c:v>
                </c:pt>
                <c:pt idx="92">
                  <c:v>4.8908</c:v>
                </c:pt>
                <c:pt idx="93">
                  <c:v>4.8908</c:v>
                </c:pt>
                <c:pt idx="94">
                  <c:v>4.8908</c:v>
                </c:pt>
                <c:pt idx="95">
                  <c:v>4.8908</c:v>
                </c:pt>
                <c:pt idx="96">
                  <c:v>4.8908</c:v>
                </c:pt>
                <c:pt idx="97">
                  <c:v>4.8908</c:v>
                </c:pt>
                <c:pt idx="98">
                  <c:v>4.8908</c:v>
                </c:pt>
                <c:pt idx="99">
                  <c:v>4.8908</c:v>
                </c:pt>
                <c:pt idx="100">
                  <c:v>4.8908</c:v>
                </c:pt>
                <c:pt idx="101">
                  <c:v>4.8908</c:v>
                </c:pt>
                <c:pt idx="102">
                  <c:v>4.8908</c:v>
                </c:pt>
                <c:pt idx="103">
                  <c:v>4.8908</c:v>
                </c:pt>
                <c:pt idx="104">
                  <c:v>4.8908</c:v>
                </c:pt>
                <c:pt idx="105">
                  <c:v>4.8908</c:v>
                </c:pt>
                <c:pt idx="106">
                  <c:v>4.8908</c:v>
                </c:pt>
                <c:pt idx="107">
                  <c:v>4.8908</c:v>
                </c:pt>
                <c:pt idx="108">
                  <c:v>4.8908</c:v>
                </c:pt>
                <c:pt idx="109">
                  <c:v>4.8908</c:v>
                </c:pt>
                <c:pt idx="110">
                  <c:v>4.8908</c:v>
                </c:pt>
                <c:pt idx="111">
                  <c:v>4.8908</c:v>
                </c:pt>
                <c:pt idx="112">
                  <c:v>4.8908</c:v>
                </c:pt>
                <c:pt idx="113">
                  <c:v>4.8908</c:v>
                </c:pt>
                <c:pt idx="114">
                  <c:v>4.8908</c:v>
                </c:pt>
                <c:pt idx="115">
                  <c:v>4.8908</c:v>
                </c:pt>
                <c:pt idx="116">
                  <c:v>4.8908</c:v>
                </c:pt>
                <c:pt idx="117">
                  <c:v>4.8908</c:v>
                </c:pt>
                <c:pt idx="118">
                  <c:v>4.8908</c:v>
                </c:pt>
                <c:pt idx="119">
                  <c:v>4.8908</c:v>
                </c:pt>
                <c:pt idx="120">
                  <c:v>4.8908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Точка ввоза золота 4,8422</c:v>
                </c:pt>
              </c:strCache>
            </c:strRef>
          </c:tx>
          <c:spPr>
            <a:solidFill>
              <a:srgbClr val="5C4712"/>
            </a:solidFill>
            <a:ln w="25400" cap="flat">
              <a:solidFill>
                <a:srgbClr val="5C47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C4712"/>
              </a:solidFill>
              <a:ln w="9525" cap="flat">
                <a:solidFill>
                  <a:srgbClr val="5C47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  <c:pt idx="41">
                    <c:v>41</c:v>
                  </c:pt>
                  <c:pt idx="42">
                    <c:v>42</c:v>
                  </c:pt>
                  <c:pt idx="43">
                    <c:v>43</c:v>
                  </c:pt>
                  <c:pt idx="44">
                    <c:v>44</c:v>
                  </c:pt>
                  <c:pt idx="45">
                    <c:v>45</c:v>
                  </c:pt>
                  <c:pt idx="46">
                    <c:v>46</c:v>
                  </c:pt>
                  <c:pt idx="47">
                    <c:v>47</c:v>
                  </c:pt>
                  <c:pt idx="48">
                    <c:v>48</c:v>
                  </c:pt>
                  <c:pt idx="49">
                    <c:v>49</c:v>
                  </c:pt>
                  <c:pt idx="50">
                    <c:v>50</c:v>
                  </c:pt>
                  <c:pt idx="51">
                    <c:v>51</c:v>
                  </c:pt>
                  <c:pt idx="52">
                    <c:v>52</c:v>
                  </c:pt>
                  <c:pt idx="53">
                    <c:v>53</c:v>
                  </c:pt>
                  <c:pt idx="54">
                    <c:v>54</c:v>
                  </c:pt>
                  <c:pt idx="55">
                    <c:v>55</c:v>
                  </c:pt>
                  <c:pt idx="56">
                    <c:v>56</c:v>
                  </c:pt>
                  <c:pt idx="57">
                    <c:v>57</c:v>
                  </c:pt>
                  <c:pt idx="58">
                    <c:v>58</c:v>
                  </c:pt>
                  <c:pt idx="59">
                    <c:v>59</c:v>
                  </c:pt>
                  <c:pt idx="60">
                    <c:v>60</c:v>
                  </c:pt>
                  <c:pt idx="61">
                    <c:v>61</c:v>
                  </c:pt>
                  <c:pt idx="62">
                    <c:v>62</c:v>
                  </c:pt>
                  <c:pt idx="63">
                    <c:v>63</c:v>
                  </c:pt>
                  <c:pt idx="64">
                    <c:v>64</c:v>
                  </c:pt>
                  <c:pt idx="65">
                    <c:v>65</c:v>
                  </c:pt>
                  <c:pt idx="66">
                    <c:v>66</c:v>
                  </c:pt>
                  <c:pt idx="67">
                    <c:v>67</c:v>
                  </c:pt>
                  <c:pt idx="68">
                    <c:v>68</c:v>
                  </c:pt>
                  <c:pt idx="69">
                    <c:v>69</c:v>
                  </c:pt>
                  <c:pt idx="70">
                    <c:v>70</c:v>
                  </c:pt>
                  <c:pt idx="71">
                    <c:v>71</c:v>
                  </c:pt>
                  <c:pt idx="72">
                    <c:v>72</c:v>
                  </c:pt>
                  <c:pt idx="73">
                    <c:v>73</c:v>
                  </c:pt>
                  <c:pt idx="74">
                    <c:v>74</c:v>
                  </c:pt>
                  <c:pt idx="75">
                    <c:v>75</c:v>
                  </c:pt>
                  <c:pt idx="76">
                    <c:v>76</c:v>
                  </c:pt>
                  <c:pt idx="77">
                    <c:v>77</c:v>
                  </c:pt>
                  <c:pt idx="78">
                    <c:v>78</c:v>
                  </c:pt>
                  <c:pt idx="79">
                    <c:v>79</c:v>
                  </c:pt>
                  <c:pt idx="80">
                    <c:v>80</c:v>
                  </c:pt>
                  <c:pt idx="81">
                    <c:v>81</c:v>
                  </c:pt>
                  <c:pt idx="82">
                    <c:v>82</c:v>
                  </c:pt>
                  <c:pt idx="83">
                    <c:v>83</c:v>
                  </c:pt>
                  <c:pt idx="84">
                    <c:v>84</c:v>
                  </c:pt>
                  <c:pt idx="85">
                    <c:v>85</c:v>
                  </c:pt>
                  <c:pt idx="86">
                    <c:v>86</c:v>
                  </c:pt>
                  <c:pt idx="87">
                    <c:v>87</c:v>
                  </c:pt>
                  <c:pt idx="88">
                    <c:v>88</c:v>
                  </c:pt>
                  <c:pt idx="89">
                    <c:v>89</c:v>
                  </c:pt>
                  <c:pt idx="90">
                    <c:v>90</c:v>
                  </c:pt>
                  <c:pt idx="91">
                    <c:v>91</c:v>
                  </c:pt>
                  <c:pt idx="92">
                    <c:v>92</c:v>
                  </c:pt>
                  <c:pt idx="93">
                    <c:v>93</c:v>
                  </c:pt>
                  <c:pt idx="94">
                    <c:v>94</c:v>
                  </c:pt>
                  <c:pt idx="95">
                    <c:v>95</c:v>
                  </c:pt>
                  <c:pt idx="96">
                    <c:v>96</c:v>
                  </c:pt>
                  <c:pt idx="97">
                    <c:v>97</c:v>
                  </c:pt>
                  <c:pt idx="98">
                    <c:v>98</c:v>
                  </c:pt>
                  <c:pt idx="99">
                    <c:v>99</c:v>
                  </c:pt>
                  <c:pt idx="100">
                    <c:v>100</c:v>
                  </c:pt>
                  <c:pt idx="101">
                    <c:v>101</c:v>
                  </c:pt>
                  <c:pt idx="102">
                    <c:v>102</c:v>
                  </c:pt>
                  <c:pt idx="103">
                    <c:v>103</c:v>
                  </c:pt>
                  <c:pt idx="104">
                    <c:v>104</c:v>
                  </c:pt>
                  <c:pt idx="105">
                    <c:v>105</c:v>
                  </c:pt>
                  <c:pt idx="106">
                    <c:v>106</c:v>
                  </c:pt>
                  <c:pt idx="107">
                    <c:v>107</c:v>
                  </c:pt>
                  <c:pt idx="108">
                    <c:v>108</c:v>
                  </c:pt>
                  <c:pt idx="109">
                    <c:v>109</c:v>
                  </c:pt>
                  <c:pt idx="110">
                    <c:v>110</c:v>
                  </c:pt>
                  <c:pt idx="111">
                    <c:v>111</c:v>
                  </c:pt>
                  <c:pt idx="112">
                    <c:v>112</c:v>
                  </c:pt>
                  <c:pt idx="113">
                    <c:v>113</c:v>
                  </c:pt>
                  <c:pt idx="114">
                    <c:v>114</c:v>
                  </c:pt>
                  <c:pt idx="115">
                    <c:v>115</c:v>
                  </c:pt>
                  <c:pt idx="116">
                    <c:v>116</c:v>
                  </c:pt>
                  <c:pt idx="117">
                    <c:v>117</c:v>
                  </c:pt>
                  <c:pt idx="118">
                    <c:v>118</c:v>
                  </c:pt>
                  <c:pt idx="119">
                    <c:v>119</c:v>
                  </c:pt>
                  <c:pt idx="120">
                    <c:v>120</c:v>
                  </c:pt>
                </c:lvl>
              </c:multiLvlStrCache>
            </c:multiLvlStrRef>
          </c:cat>
          <c:val>
            <c:numRef>
              <c:f>Sheet1!$E$2:$E$122</c:f>
              <c:numCache>
                <c:formatCode>General</c:formatCode>
                <c:ptCount val="121"/>
                <c:pt idx="0">
                  <c:v>4.8422</c:v>
                </c:pt>
                <c:pt idx="1">
                  <c:v>4.8422</c:v>
                </c:pt>
                <c:pt idx="2">
                  <c:v>4.8422</c:v>
                </c:pt>
                <c:pt idx="3">
                  <c:v>4.8422</c:v>
                </c:pt>
                <c:pt idx="4">
                  <c:v>4.8422</c:v>
                </c:pt>
                <c:pt idx="5">
                  <c:v>4.8422</c:v>
                </c:pt>
                <c:pt idx="6">
                  <c:v>4.8422</c:v>
                </c:pt>
                <c:pt idx="7">
                  <c:v>4.8422</c:v>
                </c:pt>
                <c:pt idx="8">
                  <c:v>4.8422</c:v>
                </c:pt>
                <c:pt idx="9">
                  <c:v>4.8422</c:v>
                </c:pt>
                <c:pt idx="10">
                  <c:v>4.8422</c:v>
                </c:pt>
                <c:pt idx="11">
                  <c:v>4.8422</c:v>
                </c:pt>
                <c:pt idx="12">
                  <c:v>4.8422</c:v>
                </c:pt>
                <c:pt idx="13">
                  <c:v>4.8422</c:v>
                </c:pt>
                <c:pt idx="14">
                  <c:v>4.8422</c:v>
                </c:pt>
                <c:pt idx="15">
                  <c:v>4.8422</c:v>
                </c:pt>
                <c:pt idx="16">
                  <c:v>4.8422</c:v>
                </c:pt>
                <c:pt idx="17">
                  <c:v>4.8422</c:v>
                </c:pt>
                <c:pt idx="18">
                  <c:v>4.8422</c:v>
                </c:pt>
                <c:pt idx="19">
                  <c:v>4.8422</c:v>
                </c:pt>
                <c:pt idx="20">
                  <c:v>4.8422</c:v>
                </c:pt>
                <c:pt idx="21">
                  <c:v>4.8422</c:v>
                </c:pt>
                <c:pt idx="22">
                  <c:v>4.8422</c:v>
                </c:pt>
                <c:pt idx="23">
                  <c:v>4.8422</c:v>
                </c:pt>
                <c:pt idx="24">
                  <c:v>4.8422</c:v>
                </c:pt>
                <c:pt idx="25">
                  <c:v>4.8422</c:v>
                </c:pt>
                <c:pt idx="26">
                  <c:v>4.8422</c:v>
                </c:pt>
                <c:pt idx="27">
                  <c:v>4.8422</c:v>
                </c:pt>
                <c:pt idx="28">
                  <c:v>4.8422</c:v>
                </c:pt>
                <c:pt idx="29">
                  <c:v>4.8422</c:v>
                </c:pt>
                <c:pt idx="30">
                  <c:v>4.8422</c:v>
                </c:pt>
                <c:pt idx="31">
                  <c:v>4.8422</c:v>
                </c:pt>
                <c:pt idx="32">
                  <c:v>4.8422</c:v>
                </c:pt>
                <c:pt idx="33">
                  <c:v>4.8422</c:v>
                </c:pt>
                <c:pt idx="34">
                  <c:v>4.8422</c:v>
                </c:pt>
                <c:pt idx="35">
                  <c:v>4.8422</c:v>
                </c:pt>
                <c:pt idx="36">
                  <c:v>4.8422</c:v>
                </c:pt>
                <c:pt idx="37">
                  <c:v>4.8422</c:v>
                </c:pt>
                <c:pt idx="38">
                  <c:v>4.8422</c:v>
                </c:pt>
                <c:pt idx="39">
                  <c:v>4.8422</c:v>
                </c:pt>
                <c:pt idx="40">
                  <c:v>4.8422</c:v>
                </c:pt>
                <c:pt idx="41">
                  <c:v>4.8422</c:v>
                </c:pt>
                <c:pt idx="42">
                  <c:v>4.8422</c:v>
                </c:pt>
                <c:pt idx="43">
                  <c:v>4.8422</c:v>
                </c:pt>
                <c:pt idx="44">
                  <c:v>4.8422</c:v>
                </c:pt>
                <c:pt idx="45">
                  <c:v>4.8422</c:v>
                </c:pt>
                <c:pt idx="46">
                  <c:v>4.8422</c:v>
                </c:pt>
                <c:pt idx="47">
                  <c:v>4.8422</c:v>
                </c:pt>
                <c:pt idx="48">
                  <c:v>4.8422</c:v>
                </c:pt>
                <c:pt idx="49">
                  <c:v>4.8422</c:v>
                </c:pt>
                <c:pt idx="50">
                  <c:v>4.8422</c:v>
                </c:pt>
                <c:pt idx="51">
                  <c:v>4.8422</c:v>
                </c:pt>
                <c:pt idx="52">
                  <c:v>4.8422</c:v>
                </c:pt>
                <c:pt idx="53">
                  <c:v>4.8422</c:v>
                </c:pt>
                <c:pt idx="54">
                  <c:v>4.8422</c:v>
                </c:pt>
                <c:pt idx="55">
                  <c:v>4.8422</c:v>
                </c:pt>
                <c:pt idx="56">
                  <c:v>4.8422</c:v>
                </c:pt>
                <c:pt idx="57">
                  <c:v>4.8422</c:v>
                </c:pt>
                <c:pt idx="58">
                  <c:v>4.8422</c:v>
                </c:pt>
                <c:pt idx="59">
                  <c:v>4.8422</c:v>
                </c:pt>
                <c:pt idx="60">
                  <c:v>4.8422</c:v>
                </c:pt>
                <c:pt idx="61">
                  <c:v>4.8422</c:v>
                </c:pt>
                <c:pt idx="62">
                  <c:v>4.8422</c:v>
                </c:pt>
                <c:pt idx="63">
                  <c:v>4.8422</c:v>
                </c:pt>
                <c:pt idx="64">
                  <c:v>4.8422</c:v>
                </c:pt>
                <c:pt idx="65">
                  <c:v>4.8422</c:v>
                </c:pt>
                <c:pt idx="66">
                  <c:v>4.8422</c:v>
                </c:pt>
                <c:pt idx="67">
                  <c:v>4.8422</c:v>
                </c:pt>
                <c:pt idx="68">
                  <c:v>4.8422</c:v>
                </c:pt>
                <c:pt idx="69">
                  <c:v>4.8422</c:v>
                </c:pt>
                <c:pt idx="70">
                  <c:v>4.8422</c:v>
                </c:pt>
                <c:pt idx="71">
                  <c:v>4.8422</c:v>
                </c:pt>
                <c:pt idx="72">
                  <c:v>4.8422</c:v>
                </c:pt>
                <c:pt idx="73">
                  <c:v>4.8422</c:v>
                </c:pt>
                <c:pt idx="74">
                  <c:v>4.8422</c:v>
                </c:pt>
                <c:pt idx="75">
                  <c:v>4.8422</c:v>
                </c:pt>
                <c:pt idx="76">
                  <c:v>4.8422</c:v>
                </c:pt>
                <c:pt idx="77">
                  <c:v>4.8422</c:v>
                </c:pt>
                <c:pt idx="78">
                  <c:v>4.8422</c:v>
                </c:pt>
                <c:pt idx="79">
                  <c:v>4.8422</c:v>
                </c:pt>
                <c:pt idx="80">
                  <c:v>4.8422</c:v>
                </c:pt>
                <c:pt idx="81">
                  <c:v>4.8422</c:v>
                </c:pt>
                <c:pt idx="82">
                  <c:v>4.8422</c:v>
                </c:pt>
                <c:pt idx="83">
                  <c:v>4.8422</c:v>
                </c:pt>
                <c:pt idx="84">
                  <c:v>4.8422</c:v>
                </c:pt>
                <c:pt idx="85">
                  <c:v>4.8422</c:v>
                </c:pt>
                <c:pt idx="86">
                  <c:v>4.8422</c:v>
                </c:pt>
                <c:pt idx="87">
                  <c:v>4.8422</c:v>
                </c:pt>
                <c:pt idx="88">
                  <c:v>4.8422</c:v>
                </c:pt>
                <c:pt idx="89">
                  <c:v>4.8422</c:v>
                </c:pt>
                <c:pt idx="90">
                  <c:v>4.8422</c:v>
                </c:pt>
                <c:pt idx="91">
                  <c:v>4.8422</c:v>
                </c:pt>
                <c:pt idx="92">
                  <c:v>4.8422</c:v>
                </c:pt>
                <c:pt idx="93">
                  <c:v>4.8422</c:v>
                </c:pt>
                <c:pt idx="94">
                  <c:v>4.8422</c:v>
                </c:pt>
                <c:pt idx="95">
                  <c:v>4.8422</c:v>
                </c:pt>
                <c:pt idx="96">
                  <c:v>4.8422</c:v>
                </c:pt>
                <c:pt idx="97">
                  <c:v>4.8422</c:v>
                </c:pt>
                <c:pt idx="98">
                  <c:v>4.8422</c:v>
                </c:pt>
                <c:pt idx="99">
                  <c:v>4.8422</c:v>
                </c:pt>
                <c:pt idx="100">
                  <c:v>4.8422</c:v>
                </c:pt>
                <c:pt idx="101">
                  <c:v>4.8422</c:v>
                </c:pt>
                <c:pt idx="102">
                  <c:v>4.8422</c:v>
                </c:pt>
                <c:pt idx="103">
                  <c:v>4.8422</c:v>
                </c:pt>
                <c:pt idx="104">
                  <c:v>4.8422</c:v>
                </c:pt>
                <c:pt idx="105">
                  <c:v>4.8422</c:v>
                </c:pt>
                <c:pt idx="106">
                  <c:v>4.8422</c:v>
                </c:pt>
                <c:pt idx="107">
                  <c:v>4.8422</c:v>
                </c:pt>
                <c:pt idx="108">
                  <c:v>4.8422</c:v>
                </c:pt>
                <c:pt idx="109">
                  <c:v>4.8422</c:v>
                </c:pt>
                <c:pt idx="110">
                  <c:v>4.8422</c:v>
                </c:pt>
                <c:pt idx="111">
                  <c:v>4.8422</c:v>
                </c:pt>
                <c:pt idx="112">
                  <c:v>4.8422</c:v>
                </c:pt>
                <c:pt idx="113">
                  <c:v>4.8422</c:v>
                </c:pt>
                <c:pt idx="114">
                  <c:v>4.8422</c:v>
                </c:pt>
                <c:pt idx="115">
                  <c:v>4.8422</c:v>
                </c:pt>
                <c:pt idx="116">
                  <c:v>4.8422</c:v>
                </c:pt>
                <c:pt idx="117">
                  <c:v>4.8422</c:v>
                </c:pt>
                <c:pt idx="118">
                  <c:v>4.8422</c:v>
                </c:pt>
                <c:pt idx="119">
                  <c:v>4.8422</c:v>
                </c:pt>
                <c:pt idx="120">
                  <c:v>4.8422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9"/>
          <c:min val="4.83"/>
        </c:scaling>
        <c:delete val="0"/>
        <c:axPos val="l"/>
        <c:majorGridlines>
          <c:spPr>
            <a:ln w="6350" cap="flat">
              <a:solidFill>
                <a:srgbClr val="CB9C33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D3A1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solidFill>
          <a:srgbClr val="E8B23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B1406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E8B23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Золотой запас США</c:v>
                </c:pt>
              </c:strCache>
            </c:strRef>
          </c:tx>
          <c:spPr>
            <a:solidFill>
              <a:srgbClr val="F5C45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1949</c:v>
                  </c:pt>
                  <c:pt idx="1">
                    <c:v>1957</c:v>
                  </c:pt>
                  <c:pt idx="2">
                    <c:v>1960</c:v>
                  </c:pt>
                  <c:pt idx="3">
                    <c:v>1965</c:v>
                  </c:pt>
                  <c:pt idx="4">
                    <c:v>1968</c:v>
                  </c:pt>
                  <c:pt idx="5">
                    <c:v>1971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24.6</c:v>
                </c:pt>
                <c:pt idx="1">
                  <c:v>22.9</c:v>
                </c:pt>
                <c:pt idx="2">
                  <c:v>17.8</c:v>
                </c:pt>
                <c:pt idx="3">
                  <c:v>13.8</c:v>
                </c:pt>
                <c:pt idx="4">
                  <c:v>10.9</c:v>
                </c:pt>
                <c:pt idx="5">
                  <c:v>10.2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3CE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"/>
          <c:min val="0"/>
        </c:scaling>
        <c:delete val="0"/>
        <c:axPos val="l"/>
        <c:majorGridlines>
          <c:spPr>
            <a:ln w="6350" cap="flat">
              <a:solidFill>
                <a:srgbClr val="3B548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3CEE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16336F"/>
        </a:solidFill>
        <a:ln>
          <a:noFill/>
        </a:ln>
        <a:effectLst/>
      </c:spPr>
    </c:plotArea>
    <c:plotVisOnly val="1"/>
    <c:dispBlanksAs val="span"/>
  </c:chart>
  <c:spPr>
    <a:solidFill>
      <a:srgbClr val="16336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 мировых валютных резервах</c:v>
                </c:pt>
              </c:strCache>
            </c:strRef>
          </c:tx>
          <c:spPr>
            <a:solidFill>
              <a:srgbClr val="0E1A1F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E1A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Фунт стерлингов</c:v>
                  </c:pt>
                  <c:pt idx="1">
                    <c:v>Иена</c:v>
                  </c:pt>
                  <c:pt idx="2">
                    <c:v>Юань</c:v>
                  </c:pt>
                  <c:pt idx="3">
                    <c:v>Евро</c:v>
                  </c:pt>
                  <c:pt idx="4">
                    <c:v>Доллар США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4.6</c:v>
                </c:pt>
                <c:pt idx="1">
                  <c:v>5.4</c:v>
                </c:pt>
                <c:pt idx="2">
                  <c:v>2</c:v>
                </c:pt>
                <c:pt idx="3">
                  <c:v>20</c:v>
                </c:pt>
                <c:pt idx="4">
                  <c:v>57.1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Вес в корзине СДР</c:v>
                </c:pt>
              </c:strCache>
            </c:strRef>
          </c:tx>
          <c:spPr>
            <a:solidFill>
              <a:srgbClr val="00908A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E1A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Фунт стерлингов</c:v>
                  </c:pt>
                  <c:pt idx="1">
                    <c:v>Иена</c:v>
                  </c:pt>
                  <c:pt idx="2">
                    <c:v>Юань</c:v>
                  </c:pt>
                  <c:pt idx="3">
                    <c:v>Евро</c:v>
                  </c:pt>
                  <c:pt idx="4">
                    <c:v>Доллар США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7.44</c:v>
                </c:pt>
                <c:pt idx="1">
                  <c:v>7.59</c:v>
                </c:pt>
                <c:pt idx="2">
                  <c:v>12.28</c:v>
                </c:pt>
                <c:pt idx="3">
                  <c:v>29.31</c:v>
                </c:pt>
                <c:pt idx="4">
                  <c:v>43.38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800" u="none">
                  <a:solidFill>
                    <a:srgbClr val="0E1A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1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7F6"/>
        </a:solidFill>
        <a:ln>
          <a:noFill/>
        </a:ln>
        <a:effectLst/>
      </c:spPr>
    </c:plotArea>
    <c:plotVisOnly val="1"/>
    <c:dispBlanksAs val="span"/>
  </c:chart>
  <c:spPr>
    <a:solidFill>
      <a:srgbClr val="F5F7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B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 · МИРОВАЯ ЭКОНОМИКА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2. ВАЛЮТНЫЕ ОТНОШЕНИЯ В МИРОВОЙ ЭКОНОМИКЕ · ВОПРОС 5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72768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Парижа до Ямайки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546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Парижская, Генуэзская, Бреттон-Вудская и Ямайская валютные системы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91440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ПРОЖИЛА КАЖДАЯ СИСТЕМА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481121" cy="457200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47488" y="12252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4D2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1867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955841" y="124358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ЛЕТ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69164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Парижская · золотомонетный стандарт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2039112"/>
            <a:ext cx="1481328" cy="457200"/>
          </a:xfrm>
          <a:prstGeom prst="rect">
            <a:avLst/>
          </a:prstGeom>
          <a:solidFill>
            <a:srgbClr val="8E32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47488" y="20756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1922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209397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ЛЕТ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5420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Генуэзская · золотодевизный стандарт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889504"/>
            <a:ext cx="2370125" cy="457200"/>
          </a:xfrm>
          <a:prstGeom prst="rect">
            <a:avLst/>
          </a:prstGeom>
          <a:solidFill>
            <a:srgbClr val="1633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47488" y="2926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1944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844845" y="2944368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ГОДА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3924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Бреттон-Вудская · золотодолларовый стандарт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3739896"/>
            <a:ext cx="3703320" cy="45720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47488" y="37764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1976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794760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ЛЕТ И ДЕЙСТВУЕТ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2428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Ямайская · стандарт СДР, многовалютный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· ПОНЯТИЕ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мировая валютная система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организации международных валютных отношений, закреплённая межгосударственными соглашениями.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ЧЕГО ОНА СОСТОИТ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2316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формы мировых денег: золото, резервные валюты, СДР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конвертируемости валют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валютных паритетов и курсов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регулирование международной валютной ликвидности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международных расчётов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валютных рынков и рынков золота</a:t>
            </a:r>
            <a:endParaRPr lang="en-US" sz="10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межгосударственные институты регулирования (МВФ и др.)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2801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ВОПРОС КАЖДОЙ ЭПОХИ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4813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лежит в основе мировых денег?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94960" y="1965960"/>
            <a:ext cx="3246120" cy="438912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12" name="Shape 10"/>
          <p:cNvSpPr/>
          <p:nvPr/>
        </p:nvSpPr>
        <p:spPr>
          <a:xfrm>
            <a:off x="5522976" y="2057400"/>
            <a:ext cx="64008" cy="128016"/>
          </a:xfrm>
          <a:prstGeom prst="rect">
            <a:avLst/>
          </a:prstGeom>
          <a:solidFill>
            <a:srgbClr val="E8B23A"/>
          </a:solidFill>
          <a:ln/>
        </p:spPr>
      </p:sp>
      <p:sp>
        <p:nvSpPr>
          <p:cNvPr id="13" name="Shape 11"/>
          <p:cNvSpPr/>
          <p:nvPr/>
        </p:nvSpPr>
        <p:spPr>
          <a:xfrm>
            <a:off x="5522976" y="2185416"/>
            <a:ext cx="64008" cy="128016"/>
          </a:xfrm>
          <a:prstGeom prst="rect">
            <a:avLst/>
          </a:prstGeom>
          <a:solidFill>
            <a:srgbClr val="8E32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05856" y="1965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196596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50" kern="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ПАРИЖ, ГЕНУЯ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394960" y="2496312"/>
            <a:ext cx="3246120" cy="438912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17" name="Shape 15"/>
          <p:cNvSpPr/>
          <p:nvPr/>
        </p:nvSpPr>
        <p:spPr>
          <a:xfrm>
            <a:off x="5522976" y="2587752"/>
            <a:ext cx="64008" cy="256032"/>
          </a:xfrm>
          <a:prstGeom prst="rect">
            <a:avLst/>
          </a:prstGeom>
          <a:solidFill>
            <a:srgbClr val="1633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05856" y="24963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и доллар США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2496312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50" kern="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БРЕТТОН-ВУДС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394960" y="3026664"/>
            <a:ext cx="3246120" cy="438912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2976" y="3118104"/>
            <a:ext cx="64008" cy="256032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705856" y="30266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СДР и ведущие валюты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026664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spc="50" kern="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ЯМАЙКА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· ХРОНОЛОГИЯ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системы за 160 лет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697480" y="1371600"/>
            <a:ext cx="5943600" cy="91"/>
          </a:xfrm>
          <a:prstGeom prst="line">
            <a:avLst/>
          </a:prstGeom>
          <a:noFill/>
          <a:ln w="12700">
            <a:solidFill>
              <a:srgbClr val="E0E0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1383" y="11704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1820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90723" y="11704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1850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220062" y="11704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1880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49402" y="11704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1910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878741" y="11704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1940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708081" y="11704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537420" y="11704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34300" y="1417320"/>
            <a:ext cx="91" cy="2194560"/>
          </a:xfrm>
          <a:prstGeom prst="line">
            <a:avLst/>
          </a:prstGeom>
          <a:noFill/>
          <a:ln w="9525">
            <a:solidFill>
              <a:srgbClr val="E0E0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8924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1914 · Первая мировая война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48970" y="1417320"/>
            <a:ext cx="91" cy="2395728"/>
          </a:xfrm>
          <a:prstGeom prst="line">
            <a:avLst/>
          </a:prstGeom>
          <a:noFill/>
          <a:ln w="9525">
            <a:solidFill>
              <a:srgbClr val="E0E0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85546" y="3813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1929 · Великая депрессия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10046" y="1417320"/>
            <a:ext cx="91" cy="2194560"/>
          </a:xfrm>
          <a:prstGeom prst="line">
            <a:avLst/>
          </a:prstGeom>
          <a:noFill/>
          <a:ln w="9525">
            <a:solidFill>
              <a:srgbClr val="E0E0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95646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1971 · «Никсоновский шок»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84096" y="1417320"/>
            <a:ext cx="91" cy="2395728"/>
          </a:xfrm>
          <a:prstGeom prst="line">
            <a:avLst/>
          </a:prstGeom>
          <a:noFill/>
          <a:ln w="9525">
            <a:solidFill>
              <a:srgbClr val="E0E0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69696" y="3813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1999 · евро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54055" y="1417320"/>
            <a:ext cx="91" cy="2596896"/>
          </a:xfrm>
          <a:prstGeom prst="line">
            <a:avLst/>
          </a:prstGeom>
          <a:noFill/>
          <a:ln w="9525">
            <a:solidFill>
              <a:srgbClr val="E0E0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88679" y="4014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 · юань в корзине СДР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16733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Парижская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186537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золотомонетный стандарт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863348" y="1691640"/>
            <a:ext cx="1253366" cy="256032"/>
          </a:xfrm>
          <a:prstGeom prst="rect">
            <a:avLst/>
          </a:prstGeom>
          <a:solidFill>
            <a:srgbClr val="EFE4C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863348" y="1691640"/>
            <a:ext cx="12716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Великобритания с 1821 г.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35002" y="1691640"/>
            <a:ext cx="1299299" cy="256032"/>
          </a:xfrm>
          <a:prstGeom prst="rect">
            <a:avLst/>
          </a:prstGeom>
          <a:solidFill>
            <a:srgbClr val="B8840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208154" y="1691640"/>
            <a:ext cx="12078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1867–1914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Генуэзская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23408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золотодевизный стандарт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55458" y="2167128"/>
            <a:ext cx="469959" cy="256032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89425" y="21671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1922–1939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26243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Бреттон-Вудская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281635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золотодолларовый стандарт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2642616"/>
            <a:ext cx="884629" cy="256032"/>
          </a:xfrm>
          <a:prstGeom prst="rect">
            <a:avLst/>
          </a:prstGeom>
          <a:solidFill>
            <a:srgbClr val="2D5BC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10046" y="2642616"/>
            <a:ext cx="138223" cy="256032"/>
          </a:xfrm>
          <a:prstGeom prst="rect">
            <a:avLst/>
          </a:prstGeom>
          <a:solidFill>
            <a:srgbClr val="A1B5E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12277" y="2642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1944–1976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30998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Ямайская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32918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СДР, многовалютный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48269" y="3118104"/>
            <a:ext cx="1382233" cy="256032"/>
          </a:xfrm>
          <a:prstGeom prst="rect">
            <a:avLst/>
          </a:prstGeom>
          <a:solidFill>
            <a:srgbClr val="00908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221421" y="3118104"/>
            <a:ext cx="12907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1976 г. по н. в.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44348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смена системы приходится на войну или глубокий кризис.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B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D7A5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1867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ПАРИЖСКАЯ СИСТЕМА · 1867–1914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— единственные мировые деньги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1816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344168"/>
            <a:ext cx="2514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Великобритания первой переходит к золотому монометаллизму; с 1821 г. банкноты Банка Англии свободно меняются на золото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031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1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1867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121408"/>
            <a:ext cx="2514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Парижская монетная конференция признаёт золото единственной формой мировых денег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566160" cy="1188720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305409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3273552"/>
            <a:ext cx="3236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Реформа С. Ю. Витте 1895–1897 гг.: </a:t>
            </a:r>
            <a:r>
              <a:rPr lang="en-US" sz="1000" b="1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рубль = 0,774234 г</a:t>
            </a:r>
            <a:r>
              <a:rPr lang="en-US" sz="100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чистого золота, кредитные билеты свободно меняются на золотую монету.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13258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СТРАНЫ ПЕРЕХОДИЛИ К ЗОЛОТУ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89120" y="2743200"/>
            <a:ext cx="4251960" cy="91"/>
          </a:xfrm>
          <a:prstGeom prst="line">
            <a:avLst/>
          </a:prstGeom>
          <a:noFill/>
          <a:ln w="19050">
            <a:solidFill>
              <a:srgbClr val="1B14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47260" y="2743200"/>
            <a:ext cx="91" cy="64008"/>
          </a:xfrm>
          <a:prstGeom prst="line">
            <a:avLst/>
          </a:prstGeom>
          <a:noFill/>
          <a:ln w="19050">
            <a:solidFill>
              <a:srgbClr val="1B14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31180" y="2743200"/>
            <a:ext cx="91" cy="64008"/>
          </a:xfrm>
          <a:prstGeom prst="line">
            <a:avLst/>
          </a:prstGeom>
          <a:noFill/>
          <a:ln w="19050">
            <a:solidFill>
              <a:srgbClr val="1B14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5100" y="2743200"/>
            <a:ext cx="91" cy="64008"/>
          </a:xfrm>
          <a:prstGeom prst="line">
            <a:avLst/>
          </a:prstGeom>
          <a:noFill/>
          <a:ln w="19050">
            <a:solidFill>
              <a:srgbClr val="1B14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9020" y="2743200"/>
            <a:ext cx="91" cy="64008"/>
          </a:xfrm>
          <a:prstGeom prst="line">
            <a:avLst/>
          </a:prstGeom>
          <a:noFill/>
          <a:ln w="19050">
            <a:solidFill>
              <a:srgbClr val="1B14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82940" y="2743200"/>
            <a:ext cx="91" cy="64008"/>
          </a:xfrm>
          <a:prstGeom prst="line">
            <a:avLst/>
          </a:prstGeom>
          <a:noFill/>
          <a:ln w="19050">
            <a:solidFill>
              <a:srgbClr val="1B14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72940" y="28346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1820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356860" y="28346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240780" y="28346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51320" y="2670048"/>
            <a:ext cx="146304" cy="146304"/>
          </a:xfrm>
          <a:prstGeom prst="diamond">
            <a:avLst/>
          </a:prstGeom>
          <a:solidFill>
            <a:srgbClr val="8E322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04232" y="307238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1867 · Парижская конференция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91456" y="2350008"/>
            <a:ext cx="91" cy="320040"/>
          </a:xfrm>
          <a:prstGeom prst="line">
            <a:avLst/>
          </a:prstGeom>
          <a:noFill/>
          <a:ln w="9525">
            <a:solidFill>
              <a:srgbClr val="BF923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45736" y="2148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Великобритания 1821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89648" y="1938528"/>
            <a:ext cx="91" cy="731520"/>
          </a:xfrm>
          <a:prstGeom prst="line">
            <a:avLst/>
          </a:prstGeom>
          <a:noFill/>
          <a:ln w="9525">
            <a:solidFill>
              <a:srgbClr val="BF92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80888" y="1737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Германия 1873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22236" y="2816352"/>
            <a:ext cx="91" cy="566928"/>
          </a:xfrm>
          <a:prstGeom prst="line">
            <a:avLst/>
          </a:prstGeom>
          <a:noFill/>
          <a:ln w="9525">
            <a:solidFill>
              <a:srgbClr val="BF92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13476" y="3401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Латинский союз 1870-е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54824" y="2350008"/>
            <a:ext cx="91" cy="320040"/>
          </a:xfrm>
          <a:prstGeom prst="line">
            <a:avLst/>
          </a:prstGeom>
          <a:noFill/>
          <a:ln w="9525">
            <a:solidFill>
              <a:srgbClr val="BF923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09104" y="2148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 1879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150352" y="1938528"/>
            <a:ext cx="91" cy="731520"/>
          </a:xfrm>
          <a:prstGeom prst="line">
            <a:avLst/>
          </a:prstGeom>
          <a:noFill/>
          <a:ln w="9525">
            <a:solidFill>
              <a:srgbClr val="BF923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73112" y="17373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Япония 1897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50352" y="2816352"/>
            <a:ext cx="91" cy="566928"/>
          </a:xfrm>
          <a:prstGeom prst="line">
            <a:avLst/>
          </a:prstGeom>
          <a:noFill/>
          <a:ln w="9525">
            <a:solidFill>
              <a:srgbClr val="BF923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73112" y="3401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 1897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32020" y="2683764"/>
            <a:ext cx="118872" cy="118872"/>
          </a:xfrm>
          <a:prstGeom prst="ellipse">
            <a:avLst/>
          </a:prstGeom>
          <a:solidFill>
            <a:srgbClr val="1B1406"/>
          </a:solidFill>
          <a:ln/>
        </p:spPr>
      </p:sp>
      <p:sp>
        <p:nvSpPr>
          <p:cNvPr id="39" name="Shape 37"/>
          <p:cNvSpPr/>
          <p:nvPr/>
        </p:nvSpPr>
        <p:spPr>
          <a:xfrm>
            <a:off x="7030212" y="2683764"/>
            <a:ext cx="118872" cy="118872"/>
          </a:xfrm>
          <a:prstGeom prst="ellipse">
            <a:avLst/>
          </a:prstGeom>
          <a:solidFill>
            <a:srgbClr val="1B1406"/>
          </a:solidFill>
          <a:ln/>
        </p:spPr>
      </p:sp>
      <p:sp>
        <p:nvSpPr>
          <p:cNvPr id="40" name="Shape 38"/>
          <p:cNvSpPr/>
          <p:nvPr/>
        </p:nvSpPr>
        <p:spPr>
          <a:xfrm>
            <a:off x="7162800" y="2683764"/>
            <a:ext cx="118872" cy="118872"/>
          </a:xfrm>
          <a:prstGeom prst="ellipse">
            <a:avLst/>
          </a:prstGeom>
          <a:solidFill>
            <a:srgbClr val="1B1406"/>
          </a:solidFill>
          <a:ln/>
        </p:spPr>
      </p:sp>
      <p:sp>
        <p:nvSpPr>
          <p:cNvPr id="41" name="Shape 39"/>
          <p:cNvSpPr/>
          <p:nvPr/>
        </p:nvSpPr>
        <p:spPr>
          <a:xfrm>
            <a:off x="7295388" y="2683764"/>
            <a:ext cx="118872" cy="118872"/>
          </a:xfrm>
          <a:prstGeom prst="ellipse">
            <a:avLst/>
          </a:prstGeom>
          <a:solidFill>
            <a:srgbClr val="1B1406"/>
          </a:solidFill>
          <a:ln/>
        </p:spPr>
      </p:sp>
      <p:sp>
        <p:nvSpPr>
          <p:cNvPr id="42" name="Shape 40"/>
          <p:cNvSpPr/>
          <p:nvPr/>
        </p:nvSpPr>
        <p:spPr>
          <a:xfrm>
            <a:off x="8090916" y="2683764"/>
            <a:ext cx="118872" cy="118872"/>
          </a:xfrm>
          <a:prstGeom prst="ellipse">
            <a:avLst/>
          </a:prstGeom>
          <a:solidFill>
            <a:srgbClr val="1B1406"/>
          </a:solidFill>
          <a:ln/>
        </p:spPr>
      </p:sp>
      <p:sp>
        <p:nvSpPr>
          <p:cNvPr id="43" name="Shape 41"/>
          <p:cNvSpPr/>
          <p:nvPr/>
        </p:nvSpPr>
        <p:spPr>
          <a:xfrm>
            <a:off x="8090916" y="2683764"/>
            <a:ext cx="118872" cy="118872"/>
          </a:xfrm>
          <a:prstGeom prst="ellipse">
            <a:avLst/>
          </a:prstGeom>
          <a:solidFill>
            <a:srgbClr val="1B140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389120" y="3886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1870–1914 — «золотой век» золотого стандарта и первая глобализация.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B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D7A5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1867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ПАРИЖСКАЯ СИСТЕМА · 1867–1914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принципов золотомонетного стандарта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обращении — </a:t>
            </a:r>
            <a:r>
              <a:rPr lang="en-US" sz="11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золотые монеты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золото выполняет все функции денег</a:t>
            </a:r>
            <a:endParaRPr lang="en-US" sz="11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каждой валюты законодательно закреплено </a:t>
            </a:r>
            <a:r>
              <a:rPr lang="en-US" sz="11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золотое содержание</a:t>
            </a:r>
            <a:endParaRPr lang="en-US" sz="11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1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размен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золото, свободная чеканка, ввоз и вывоз золота</a:t>
            </a:r>
            <a:endParaRPr lang="en-US" sz="11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— </a:t>
            </a:r>
            <a:r>
              <a:rPr lang="en-US" sz="11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общепризнанные мировые деньги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платёжное и резервное средство</a:t>
            </a:r>
            <a:endParaRPr lang="en-US" sz="11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Денежная масса </a:t>
            </a:r>
            <a:r>
              <a:rPr lang="en-US" sz="11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жёстко привязана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 золотому запасу; дефицит платёжного баланса покрывается золотом</a:t>
            </a:r>
            <a:endParaRPr lang="en-US" sz="11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1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 складываются на рынке, но колеблются лишь в пределах </a:t>
            </a:r>
            <a:r>
              <a:rPr lang="en-US" sz="11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«золотых точек»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463040"/>
            <a:ext cx="3154680" cy="2240280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162763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МОНЕТНЫЙ ПАРИТЕТ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19385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фунт стерлингов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938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7,32238 г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2311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доллар США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2311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1,50463 г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52374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7,32238 ÷ 1,50463 (чистого золота)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0" y="2852928"/>
            <a:ext cx="2788920" cy="91"/>
          </a:xfrm>
          <a:prstGeom prst="line">
            <a:avLst/>
          </a:prstGeom>
          <a:noFill/>
          <a:ln w="19050">
            <a:solidFill>
              <a:srgbClr val="F4D2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29992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1 £ =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809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4D2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4,8665 $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B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D7A5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1867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ПАРИЖСКАЯ СИСТЕМА · МЕХАНИЗМ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«Золотые точки» и саморегулирование</a:t>
            </a:r>
            <a:endParaRPr lang="en-US" sz="2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4846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02920" y="3886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Пересылка золота стоит </a:t>
            </a:r>
            <a:r>
              <a:rPr lang="en-US" sz="1000" b="1" dirty="0">
                <a:solidFill>
                  <a:srgbClr val="1B1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0,5 % паритета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курс уходит дальше стоимости пересылки, выгоднее платить самим золотом, поэтому курс не выходит из коридора.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1325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Д. ЮМА «ЦЕНЫ — ЗОЛОТО — ПОТОК»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577840" y="1572768"/>
            <a:ext cx="3063240" cy="384048"/>
          </a:xfrm>
          <a:prstGeom prst="rect">
            <a:avLst/>
          </a:prstGeom>
          <a:solidFill>
            <a:srgbClr val="D8A53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87568" y="15727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1572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Дефицит платёжного баланса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029968"/>
            <a:ext cx="3063240" cy="384048"/>
          </a:xfrm>
          <a:prstGeom prst="rect">
            <a:avLst/>
          </a:prstGeom>
          <a:solidFill>
            <a:srgbClr val="D8A53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687568" y="20299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2029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уходит из страны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487168"/>
            <a:ext cx="3063240" cy="384048"/>
          </a:xfrm>
          <a:prstGeom prst="rect">
            <a:avLst/>
          </a:prstGeom>
          <a:solidFill>
            <a:srgbClr val="D8A53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687568" y="24871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Денежная масса сокращается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2944368"/>
            <a:ext cx="3063240" cy="384048"/>
          </a:xfrm>
          <a:prstGeom prst="rect">
            <a:avLst/>
          </a:prstGeom>
          <a:solidFill>
            <a:srgbClr val="D8A53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87568" y="294436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14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989320" y="2944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Цены и доходы снижаются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3401568"/>
            <a:ext cx="3063240" cy="530352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87568" y="340156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4D2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89320" y="340156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растёт, импорт падает — равновесие восстановлено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577840" y="40690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ПРИ ПРОФИЦИТЕ — ВСЁ В ОБРАТНУЮ СТОРОНУ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B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D7A5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1914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ПАРИЖСКАЯ СИСТЕМА · ИТОГ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Стабильность ценой гибкости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1783080"/>
          </a:xfrm>
          <a:prstGeom prst="rect">
            <a:avLst/>
          </a:prstGeom>
          <a:solidFill>
            <a:srgbClr val="D8A5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Достоинства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8308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устойчивые валютные курсы и цены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высокое доверие к валютам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выравнивание платёжных балансов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рост мировой торговли и вывоза капитала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977640" cy="1783080"/>
          </a:xfrm>
          <a:prstGeom prst="rect">
            <a:avLst/>
          </a:prstGeom>
          <a:solidFill>
            <a:srgbClr val="D8A5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Недостатки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8308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денег зависит от добычи золота, а не от нужд экономики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дефляционная направленность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самостоятельной денежно-кредитной политики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внешние шоки бьют по ценам, производству и занятости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8138160" cy="1097280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2461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4D2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1914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246120"/>
            <a:ext cx="6080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мировая война.</a:t>
            </a:r>
            <a:r>
              <a:rPr lang="en-US" sz="1050" dirty="0">
                <a:solidFill>
                  <a:srgbClr val="F4D2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Воюющие страны прекращают размен банкнот на золото, запрещают его вывоз и печатают деньги для военных расходов. Золотые монеты уходят из обращения — золотомонетный стандарт перестаёт существовать.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9640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1922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ГЕНУЭЗСКАЯ СИСТЕМА · 1922–1939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Генуя, 1922: экономить золото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1922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34416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апреля — 19 мая, Генуэзская международная экономическая конференция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29+5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07568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 и британских доминионов; Советская Россия (делегация Г. В. Чичерина); США — лишь наблюдатель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840480" cy="1051560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3054096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3273552"/>
            <a:ext cx="3511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Вернуться к золоту, но хранить часть резервов в </a:t>
            </a:r>
            <a:r>
              <a:rPr lang="en-US" sz="1050" b="1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девизах</a:t>
            </a:r>
            <a:r>
              <a:rPr lang="en-US" sz="1050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иностранных валютах, которые меняются на золото.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32588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 ЗОЛОТОДЕВИЗНОГО СТАНДАРТА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572768"/>
            <a:ext cx="3886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— </a:t>
            </a:r>
            <a:r>
              <a:rPr lang="en-US" sz="10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и девизы</a:t>
            </a:r>
            <a:endParaRPr lang="en-US" sz="10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Золотые паритеты сохраняются; размен на золото — </a:t>
            </a:r>
            <a:r>
              <a:rPr lang="en-US" sz="10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</a:t>
            </a: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(США, Великобритания, Франция) или </a:t>
            </a:r>
            <a:r>
              <a:rPr lang="en-US" sz="10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девизы</a:t>
            </a: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(Германия и ещё около 30 стран)</a:t>
            </a:r>
            <a:endParaRPr lang="en-US" sz="10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Восстановлены </a:t>
            </a:r>
            <a:r>
              <a:rPr lang="en-US" sz="10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 колеблющиеся</a:t>
            </a: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курсы</a:t>
            </a:r>
            <a:endParaRPr lang="en-US" sz="10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Регулирование — через </a:t>
            </a:r>
            <a:r>
              <a:rPr lang="en-US" sz="10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конференции и совещания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840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резервной валюты официально не закреплён: за лидерство спорят фунт стерлингов и доллар.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9640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1922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ГЕНУЭЗСКАЯ СИСТЕМА · ФОРМЫ РАЗМЕНА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способа добраться до золота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590800" cy="2057400"/>
          </a:xfrm>
          <a:prstGeom prst="rect">
            <a:avLst/>
          </a:prstGeom>
          <a:solidFill>
            <a:srgbClr val="9843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417320"/>
            <a:ext cx="226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Золотомонетный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1709928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spc="50" kern="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 · ДО 1933 Г.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67512" y="2066544"/>
            <a:ext cx="629107" cy="237744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2066544"/>
            <a:ext cx="629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банкнота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296619" y="20665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79499" y="2066544"/>
            <a:ext cx="991210" cy="237744"/>
          </a:xfrm>
          <a:prstGeom prst="rect">
            <a:avLst/>
          </a:prstGeom>
          <a:solidFill>
            <a:srgbClr val="F5C45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79499" y="2066544"/>
            <a:ext cx="9912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1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золотая монета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2432304"/>
            <a:ext cx="2261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размен, как до войны.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76600" y="1280160"/>
            <a:ext cx="2590800" cy="2057400"/>
          </a:xfrm>
          <a:prstGeom prst="rect">
            <a:avLst/>
          </a:prstGeom>
          <a:solidFill>
            <a:srgbClr val="98433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41192" y="1417320"/>
            <a:ext cx="226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Золотослитковый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41192" y="1709928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spc="50" kern="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ВЕЛИКОБРИТАНИЯ 1925–1931 · ФРАНЦИЯ 1928–1936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41192" y="2066544"/>
            <a:ext cx="629107" cy="237744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41192" y="2066544"/>
            <a:ext cx="629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банкнота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070299" y="20665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53179" y="2066544"/>
            <a:ext cx="1111910" cy="237744"/>
          </a:xfrm>
          <a:prstGeom prst="rect">
            <a:avLst/>
          </a:prstGeom>
          <a:solidFill>
            <a:srgbClr val="F5C45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53179" y="2066544"/>
            <a:ext cx="11119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1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слиток ≈ 12,4 кг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441192" y="2432304"/>
            <a:ext cx="2261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Лондоне слиток стоил ≈ 1700 £, в Париже — ≈ 215 тыс. франков. Размен доступен только крупным держателям.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50280" y="1280160"/>
            <a:ext cx="2590800" cy="2057400"/>
          </a:xfrm>
          <a:prstGeom prst="rect">
            <a:avLst/>
          </a:prstGeom>
          <a:solidFill>
            <a:srgbClr val="98433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4872" y="1417320"/>
            <a:ext cx="2261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Золотодевизный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4872" y="1709928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b="1" spc="50" kern="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ГЕРМАНИЯ, АВСТРИЯ, ДАНИЯ, НОРВЕГИЯ И ДР.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214872" y="2066544"/>
            <a:ext cx="629107" cy="237744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4872" y="2066544"/>
            <a:ext cx="62910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банкнота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843979" y="20665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26859" y="2066544"/>
            <a:ext cx="1051560" cy="237744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026859" y="20665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девиза: £ или $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078419" y="20665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4872" y="2368296"/>
            <a:ext cx="508406" cy="237744"/>
          </a:xfrm>
          <a:prstGeom prst="rect">
            <a:avLst/>
          </a:prstGeom>
          <a:solidFill>
            <a:srgbClr val="F5C45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4872" y="2368296"/>
            <a:ext cx="5084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1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214872" y="2734056"/>
            <a:ext cx="2261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доступно только через валюту другой страны.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3520440"/>
            <a:ext cx="8138160" cy="777240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3520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1925 — ошибка Черчилля.</a:t>
            </a:r>
            <a:r>
              <a:rPr lang="en-US" sz="1000" dirty="0">
                <a:solidFill>
                  <a:srgbClr val="6B2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Великобритания вернулась к довоенному паритету 4,86 $ за фунт. Фунт оказался переоценён, британский экспорт подорожал. Дж. М. Кейнс ответил памфлетом «Экономические последствия мистера Черчилля».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E3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96403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1931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FFF4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ГЕНУЭЗСКАЯ СИСТЕМА · РАСПАД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Великая депрессия: бегство от золота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СТРАНЫ ОТКАЗАЛИСЬ ОТ ЗОЛОТОГО СТАНДАРТА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74520" y="1737360"/>
            <a:ext cx="91" cy="2441448"/>
          </a:xfrm>
          <a:prstGeom prst="line">
            <a:avLst/>
          </a:prstGeom>
          <a:noFill/>
          <a:ln w="6350">
            <a:solidFill>
              <a:srgbClr val="A75D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01952" y="1572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07920" y="1737360"/>
            <a:ext cx="91" cy="2441448"/>
          </a:xfrm>
          <a:prstGeom prst="line">
            <a:avLst/>
          </a:prstGeom>
          <a:noFill/>
          <a:ln w="6350">
            <a:solidFill>
              <a:srgbClr val="A75D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35352" y="1572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41320" y="1737360"/>
            <a:ext cx="91" cy="2441448"/>
          </a:xfrm>
          <a:prstGeom prst="line">
            <a:avLst/>
          </a:prstGeom>
          <a:noFill/>
          <a:ln w="6350">
            <a:solidFill>
              <a:srgbClr val="A75D5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8752" y="1572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474720" y="1737360"/>
            <a:ext cx="91" cy="2441448"/>
          </a:xfrm>
          <a:prstGeom prst="line">
            <a:avLst/>
          </a:prstGeom>
          <a:noFill/>
          <a:ln w="6350">
            <a:solidFill>
              <a:srgbClr val="A75D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2152" y="1572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08120" y="1737360"/>
            <a:ext cx="91" cy="2441448"/>
          </a:xfrm>
          <a:prstGeom prst="line">
            <a:avLst/>
          </a:prstGeom>
          <a:noFill/>
          <a:ln w="6350">
            <a:solidFill>
              <a:srgbClr val="A75D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35552" y="1572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41520" y="1737360"/>
            <a:ext cx="91" cy="2441448"/>
          </a:xfrm>
          <a:prstGeom prst="line">
            <a:avLst/>
          </a:prstGeom>
          <a:noFill/>
          <a:ln w="6350">
            <a:solidFill>
              <a:srgbClr val="A75D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68952" y="15727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74920" y="1737360"/>
            <a:ext cx="91" cy="2441448"/>
          </a:xfrm>
          <a:prstGeom prst="line">
            <a:avLst/>
          </a:prstGeom>
          <a:noFill/>
          <a:ln w="6350">
            <a:solidFill>
              <a:srgbClr val="A75D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1783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Германия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74520" y="1874520"/>
            <a:ext cx="288036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98548" y="181051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20574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Великобритания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74520" y="2148840"/>
            <a:ext cx="384048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208483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23317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Скандинавия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74520" y="2423160"/>
            <a:ext cx="394716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05228" y="235915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2920" y="260604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Япония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874520" y="2697480"/>
            <a:ext cx="506730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17242" y="263347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" y="28803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74520" y="2971800"/>
            <a:ext cx="1221486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1998" y="290779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02920" y="31546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Бельгия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874520" y="3246120"/>
            <a:ext cx="2261616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72128" y="318211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2920" y="34290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Франция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74520" y="3520440"/>
            <a:ext cx="3061716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2228" y="345643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2920" y="37033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Нидерланды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874520" y="3794760"/>
            <a:ext cx="3061716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72228" y="373075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02920" y="397764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Швейцария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874520" y="4069080"/>
            <a:ext cx="3061716" cy="91"/>
          </a:xfrm>
          <a:prstGeom prst="line">
            <a:avLst/>
          </a:prstGeom>
          <a:noFill/>
          <a:ln w="31750">
            <a:solidFill>
              <a:srgbClr val="BB807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72228" y="4005072"/>
            <a:ext cx="128016" cy="128016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486400" y="132588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ДЕВАЛЬВАЦИЯ ДОЛЛАРА, 1934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0" y="15361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4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20,67 → 35 $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0" y="2029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тройскую унцию: золотое содержание доллара сокращено на 41 %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486400" y="251460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РАСПАДАЕТСЯ НА БЛОКИ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0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стерлинговый — 1931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долларовый — 1933</a:t>
            </a:r>
            <a:endParaRPr lang="en-US" sz="1000" dirty="0"/>
          </a:p>
          <a:p>
            <a:pPr marL="165100" indent="-165100">
              <a:lnSpc>
                <a:spcPct val="105000"/>
              </a:lnSpc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золотой (Франция, Бельгия, Нидерланды, Швейцария, Италия, Польша) — 1933–1936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0" y="37033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F2C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Конкурентные девальвации, валютные ограничения, пошлины. Трёхстороннее соглашение 1936 г. (США, Великобритания, Франция) — первая попытка договориться.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243F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1944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БРЕТТОН-ВУДСКАЯ СИСТЕМА · 1944–1976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Бреттон-Вудс, июль 1944: Кейнс против Уайта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931670" cy="77724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" y="1316736"/>
            <a:ext cx="16756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1–22.07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1627632"/>
            <a:ext cx="16756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1944 г., штат Нью-Гэмпшир, США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71750" y="1234440"/>
            <a:ext cx="1931670" cy="77724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9766" y="1316736"/>
            <a:ext cx="16756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99766" y="1627632"/>
            <a:ext cx="16756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государства, включая СССР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40580" y="1234440"/>
            <a:ext cx="1931670" cy="77724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68596" y="1316736"/>
            <a:ext cx="16756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70 %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68596" y="1627632"/>
            <a:ext cx="16756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золотых запасов капиталистического мира — у США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09410" y="1234440"/>
            <a:ext cx="1931670" cy="77724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37426" y="1316736"/>
            <a:ext cx="16756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МВФ+МБРР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37426" y="1627632"/>
            <a:ext cx="16756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созданы по итогам конференции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9456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 Кейнса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3CE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ВЕЛИКОБРИТАНИЯ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План Уайта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5C4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США · ПРИНЯТ В ОСНОВНОМ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C3CE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ИНСТИТУТ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43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Международный клиринговый союз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43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Стабилизационный фонд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437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C3CE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РЕЗЕРВЫ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наднациональная валюта «банкор»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золото и доллар США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C3CE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РЕСУРСЫ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43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кредит по клиринговым счетам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43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взносы (квоты) стран-участниц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9437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C3CE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ДИСБАЛАНСЫ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устраняют и должники, и кредиторы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устраняют прежде всего страны с дефицитом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36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02920" y="41605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СССР участвовал в конференции, но соглашения не ратифицировал. Россия — член МВФ с 1 июня 1992 г.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243F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1944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БРЕТТОН-ВУДСКАЯ СИСТЕМА · УСТРОЙСТВО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— доллар — все остальные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554480" cy="548640"/>
          </a:xfrm>
          <a:prstGeom prst="rect">
            <a:avLst/>
          </a:prstGeom>
          <a:solidFill>
            <a:srgbClr val="F5C4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37360" y="1261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536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3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тройская унция = 31,1035 г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14600" y="1810512"/>
            <a:ext cx="91" cy="41148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624328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35 $ за унцию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24328" y="2011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размен только для центральных банков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85416" y="225856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85416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33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Доллар США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578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резервная валюта и валюта интервенций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 flipH="1">
            <a:off x="1005840" y="2926080"/>
            <a:ext cx="1237183" cy="5943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47472" y="3566160"/>
            <a:ext cx="1316736" cy="73152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" y="363016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Фунт стерлингов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" y="37947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1 £ = 2,80 $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" y="405993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1949–1967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14600" y="2926080"/>
            <a:ext cx="91" cy="5943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856232" y="3566160"/>
            <a:ext cx="1316736" cy="73152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856232" y="363016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Марка ФРГ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856232" y="37947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 DM = 1 $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56232" y="405993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1949–1961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86177" y="2926080"/>
            <a:ext cx="1237183" cy="5943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64992" y="3566160"/>
            <a:ext cx="1316736" cy="73152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364992" y="3630168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Японская иена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364992" y="37947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360 ¥ = 1 $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364992" y="4059936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1949–1971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1097280" y="30723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±1 %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2569464" y="32004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±1 %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3474720" y="30723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±1 %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1280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150876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Золотодевизный стандарт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основе золота и двух резервных валют — доллара и фунта; на деле — золотодолларовый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доллар меняется на золото: 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35 $ за тройскую унцию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центральных банков и правительств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Фиксированные курсы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отклонение от паритета не более ±1 %, ЦБ поддерживают курс интервенциями в долларах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паритета более чем на 10 % — 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с согласия МВФ</a:t>
            </a:r>
            <a:endParaRPr lang="en-US" sz="950" dirty="0"/>
          </a:p>
          <a:p>
            <a:pPr marL="203200" indent="-203200">
              <a:lnSpc>
                <a:spcPct val="105000"/>
              </a:lnSpc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Регулирование через 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МВФ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(кредиты для покрытия дефицита платёжного баланса) и </a:t>
            </a: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МБРР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Внешняя конвертируемость: Западная Европа — конец 1958 г., Япония — 1964 г.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243F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1960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БРЕТТОН-ВУДСКАЯ СИСТЕМА · ПРОТИВОРЕЧИЕ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Дилемма Триффина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31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" y="128016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3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Мировой экономике нужны доллары, а получить их она может только из США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1920240" cy="123444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" y="1938528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 сохраняют дефицит платёжного баланса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Долларов в мире становится больше…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…но доверие к их размену на золото падает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856232"/>
            <a:ext cx="1920240" cy="123444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33472" y="1938528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 устраняют дефицит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 к доллару сохраняется…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5C4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…но миру не хватает ликвидности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«Непомерная привилегия»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538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министр финансов Франции В. Жискар д'Эстен назвал право США покрывать дефицит своей валютой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977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Р. Триффин, «Золото и долларовый кризис», 1960.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12801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ЗОЛОТОЙ ЗАПАС США, МЛРД ДОЛЛ. ПО ЦЕНЕ 35 $ ЗА УНЦИЮ</a:t>
            </a:r>
            <a:endParaRPr lang="en-US" sz="7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617720" y="1463040"/>
          <a:ext cx="40233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709160" y="4041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1960 г. долларовые обязательства США перед иностранцами превысили весь золотой запас страны.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3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243F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1971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БРЕТТОН-ВУДСКАЯ СИСТЕМА · РАСПАД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Хроника распада, 1960–1973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2648" y="12618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10.1960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261872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золота в Лондоне подскакивает до 40 $ за унцию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773936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" y="177393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1961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1773936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«Золотой пул» восьми центральных банков удерживает цену на 35 $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286000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" y="2286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1965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2860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Франция при Ш. де Голле меняет доллары на золото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798064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" y="279806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11.1967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2798064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Девальвация фунта: 2,80 → 2,40 $ (−14,3 %)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310128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" y="33101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03.1968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31012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Распад пула, «двухъярусный» рынок: 35 $ для ЦБ, свободная цена для остальных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73168" y="1261872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1969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1261872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Созданы СДР (первая поправка к Уставу МВФ); распределения — с 1970 г.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773936"/>
            <a:ext cx="3977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73168" y="177393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633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15.08.1971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1773936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63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Р. Никсон приостанавливает обмен долларов на золото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73168" y="228600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12.1971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22860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Смитсоновское соглашение: 38 $ за унцию, коридор ±2,25 %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798064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773168" y="279806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02.1973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5760720" y="2798064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Вторая девальвация доллара: 42,22 $ за унцию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310128"/>
            <a:ext cx="3977640" cy="457200"/>
          </a:xfrm>
          <a:prstGeom prst="rect">
            <a:avLst/>
          </a:prstGeom>
          <a:solidFill>
            <a:srgbClr val="29437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73168" y="33101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C45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03.1973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5760720" y="3310128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Ведущие валюты переходят к плаванию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3886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3C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Причины: дилемма Триффина, дефицит платёжного баланса и инфляция в США (война во Вьетнаме), усиление Европы и Японии, рынок евродолларов и «горячие деньги».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E2ED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1976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0E1A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ЯМАЙСКАЯ СИСТЕМА · С 1976 Г.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Кингстон, январь 1976: золото больше не деньги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258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34416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7–8 января, совещание Временного комитета МВФ в Кингстоне (Ямайка)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E1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1978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07568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апреля вступает в силу Вторая поправка к Статьям Соглашения МВФ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3566160" cy="100584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305409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 МВФ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327355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млн унций продано на аукционах, ещё 25 млн возвращено странам-членам — всего треть запаса фонда.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13258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1572768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золотодевизного — </a:t>
            </a:r>
            <a:r>
              <a:rPr lang="en-US" sz="10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СДР</a:t>
            </a: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на практике многовалютный стандарт во главе с долларом</a:t>
            </a:r>
            <a:endParaRPr lang="en-US" sz="10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Демонетизация золота</a:t>
            </a: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отменены официальная цена и золотые паритеты, ЦБ торгуют золотом по рыночной цене</a:t>
            </a:r>
            <a:endParaRPr lang="en-US" sz="10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выбор</a:t>
            </a: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режима валютного курса</a:t>
            </a:r>
            <a:endParaRPr lang="en-US" sz="10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Надзор МВФ</a:t>
            </a: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 курсовой политикой стран (статья IV)</a:t>
            </a:r>
            <a:endParaRPr lang="en-US" sz="1050" dirty="0"/>
          </a:p>
          <a:p>
            <a:pPr marL="203200" indent="-203200">
              <a:lnSpc>
                <a:spcPct val="105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Признаны </a:t>
            </a:r>
            <a:r>
              <a:rPr lang="en-US" sz="10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региональные валютные системы</a:t>
            </a:r>
            <a:r>
              <a:rPr lang="en-US" sz="10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ЕВС и ЭКЮ (1979), евро (1999)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E2ED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1976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0E1A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ЯМАЙСКАЯ СИСТЕМА · КУРСОВЫЕ РЕЖИМЫ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выбора: спектр курсовых режимов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543175" cy="41148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" y="1280160"/>
            <a:ext cx="2360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Жёсткая фиксация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2360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258568"/>
            <a:ext cx="2360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Чужая валюта как законное платёжное средство; валютное управление (currency board)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2360295" cy="402336"/>
          </a:xfrm>
          <a:prstGeom prst="rect">
            <a:avLst/>
          </a:prstGeom>
          <a:solidFill>
            <a:srgbClr val="E3EB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880360"/>
            <a:ext cx="2177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Эквадор, Панама</a:t>
            </a:r>
            <a:r>
              <a:rPr lang="en-US" sz="8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доллар США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2360295" cy="402336"/>
          </a:xfrm>
          <a:prstGeom prst="rect">
            <a:avLst/>
          </a:prstGeom>
          <a:solidFill>
            <a:srgbClr val="E3EBE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337560"/>
            <a:ext cx="2177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Гонконг</a:t>
            </a:r>
            <a:r>
              <a:rPr lang="en-US" sz="8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валютное управление с 1983 г.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46095" y="1280160"/>
            <a:ext cx="3051810" cy="411480"/>
          </a:xfrm>
          <a:prstGeom prst="rect">
            <a:avLst/>
          </a:prstGeom>
          <a:solidFill>
            <a:srgbClr val="6FBDB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74111" y="1280160"/>
            <a:ext cx="28689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Мягкая фиксация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46095" y="2057400"/>
            <a:ext cx="28689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3046095" y="2258568"/>
            <a:ext cx="2868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Привязка к валюте или корзине; привязка в пределах коридора; ползущая привязка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46095" y="2880360"/>
            <a:ext cx="2868930" cy="402336"/>
          </a:xfrm>
          <a:prstGeom prst="rect">
            <a:avLst/>
          </a:prstGeom>
          <a:solidFill>
            <a:srgbClr val="E3EBE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137535" y="2880360"/>
            <a:ext cx="2686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Саудовская Аравия</a:t>
            </a:r>
            <a:r>
              <a:rPr lang="en-US" sz="8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риал привязан к доллару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46095" y="3337560"/>
            <a:ext cx="2868930" cy="402336"/>
          </a:xfrm>
          <a:prstGeom prst="rect">
            <a:avLst/>
          </a:prstGeom>
          <a:solidFill>
            <a:srgbClr val="E3EBE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37535" y="3337560"/>
            <a:ext cx="26860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Дания</a:t>
            </a:r>
            <a:r>
              <a:rPr lang="en-US" sz="8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крона в коридоре ±2,25 % к евро (ERM II)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97905" y="1280160"/>
            <a:ext cx="2543175" cy="411480"/>
          </a:xfrm>
          <a:prstGeom prst="rect">
            <a:avLst/>
          </a:prstGeom>
          <a:solidFill>
            <a:srgbClr val="CFE8E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25921" y="1280160"/>
            <a:ext cx="2360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Плавающие курсы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097905" y="2057400"/>
            <a:ext cx="2360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РЕЖИМЫ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6097905" y="2258568"/>
            <a:ext cx="2360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Управляемое плавание; свободное плавание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7905" y="2880360"/>
            <a:ext cx="2360295" cy="402336"/>
          </a:xfrm>
          <a:prstGeom prst="rect">
            <a:avLst/>
          </a:prstGeom>
          <a:solidFill>
            <a:srgbClr val="E3EBE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89345" y="2880360"/>
            <a:ext cx="2177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</a:t>
            </a:r>
            <a:r>
              <a:rPr lang="en-US" sz="85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плавающий рубль с ноября 2014 г.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97905" y="3337560"/>
            <a:ext cx="2360295" cy="402336"/>
          </a:xfrm>
          <a:prstGeom prst="rect">
            <a:avLst/>
          </a:prstGeom>
          <a:solidFill>
            <a:srgbClr val="E3EBE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89345" y="3337560"/>
            <a:ext cx="21774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США, еврозона, Япония, Великобритания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1755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УСТОЙЧИВЕЕ КУРС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1755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spc="50" kern="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САМОСТОЯТЕЛЬНЕЕ ДЕНЕЖНАЯ ПОЛИТИКА →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39776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режимов — по МВФ (Annual Report on Exchange Arrangements and Exchange Restrictions).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E2ED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0E1A1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ЯМАЙСКАЯ СИСТЕМА · СЕГОДНЯ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 — СДР, фактически — доллар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146304" cy="91440"/>
          </a:xfrm>
          <a:prstGeom prst="rect">
            <a:avLst/>
          </a:prstGeom>
          <a:solidFill>
            <a:srgbClr val="0090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2376" y="12527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в корзине СДР (с 01.08.2022), %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499616"/>
            <a:ext cx="146304" cy="91440"/>
          </a:xfrm>
          <a:prstGeom prst="rect">
            <a:avLst/>
          </a:prstGeom>
          <a:solidFill>
            <a:srgbClr val="0E1A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2376" y="145389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в мировых валютных резервах (I кв. 2026), %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1645920"/>
          <a:ext cx="48920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0292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Фунт — около 4,6 %; прочие валюты — около 10,8 % резервов. Источники: МВФ (пересмотр корзины СДР 2022 г.; COFER, I кв. 2026 г.).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132588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 ЗОЛОТА ЗА ТРОЙСКУЮ УНЦИЮ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trike="sngStrike" dirty="0">
                <a:solidFill>
                  <a:srgbClr val="4A58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35 $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официальная цена до 1971 г.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18745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8A5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4 250 $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2487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сентябрь 2026 · в ≈ 120 раз выше · в начале 2026 г. — выше 5 000 $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2926080"/>
            <a:ext cx="3063240" cy="960120"/>
          </a:xfrm>
          <a:prstGeom prst="rect">
            <a:avLst/>
          </a:prstGeom>
          <a:solidFill>
            <a:srgbClr val="0B7A7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42432" y="3054096"/>
            <a:ext cx="27340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 т</a:t>
            </a: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золота купили центральные банки во II квартале 2026 г. — рекорд для второго квартала. В 2022–2024 гг. — более 1000 т в год.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39776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4A5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Gold Council; Trading Economics.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· СРАВНЕНИЕ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системы в одной таблице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  <a:gridCol w="1760220"/>
                <a:gridCol w="17602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4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Парижская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B14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1867–1914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Генуэзская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1922–1939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3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Бреттон-Вудская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1944–1976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3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Ямайская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 1976 г.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СТАНДАРТ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63500" marB="381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Золотомонетный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Золотодевизный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Золотодолларовый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СДР, фактически многовалютный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РОЛЬ ЗОЛОТА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63500" marB="381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Единственные мировые деньги, монеты в обращении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 наряду с девизами; размен на слитки или через девизы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Размен долларов ЦБ по 35 $ за унцию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Демонетизировано; резервный актив ЦБ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РЕЗЕРВНЫЕ ВАЛЮТЫ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63500" marB="381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Официально нет; ведущая роль фунта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 закреплены; фунт и доллар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Доллар и фунт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Доллар, евро, иена, фунт, юань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КУРСЫ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63500" marB="381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 пределах «золотых точек»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Свободно колеблющиеся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Фиксированные, ±1 %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Свободный выбор, преобладает плавание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РЕГУЛИРОВАНИЕ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63500" marB="381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Рыночный автоматизм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Конференции и совещания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МВФ и МБРР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Надзор МВФ, G7, G20, региональные союзы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ПОЧЕМУ РУХНУЛА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63500" marB="381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Первая мировая война, узость золотой базы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Кризис 1929–1933, валютные блоки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Дилемма Триффина, дефицит США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113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Действует; нестабильность курсов, доминирование доллара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63500" marB="50800" anchor="t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· ВЫВОДЫ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05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сквозные тенденции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8138160" cy="438912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128016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Золото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280160"/>
            <a:ext cx="6263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единственные мировые деньги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наряду с валютами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юридически демонетизировано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8138160" cy="438912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178308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Регулирование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1783080"/>
            <a:ext cx="6263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рыночный автоматизм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конференции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МВФ, G7, G20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8138160" cy="438912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22860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Курсы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2286000"/>
            <a:ext cx="6263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«золотые точки»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фиксированные паритеты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выбора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8138160" cy="438912"/>
          </a:xfrm>
          <a:prstGeom prst="rect">
            <a:avLst/>
          </a:prstGeom>
          <a:solidFill>
            <a:srgbClr val="EFF1F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27889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Лидер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2788920"/>
            <a:ext cx="6263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фунт стерлингов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доллар США</a:t>
            </a:r>
            <a:r>
              <a:rPr lang="en-US" sz="10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000" dirty="0">
                <a:solidFill>
                  <a:srgbClr val="111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многополярность: евро, юань, национальные валюты?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8138160" cy="822960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429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Валютная система живёт, пока её правила совпадают с реальным распределением экономической силы.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B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429000" y="331470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dirty="0">
                <a:solidFill>
                  <a:srgbClr val="D7A5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502920" y="315468"/>
            <a:ext cx="82296" cy="82296"/>
          </a:xfrm>
          <a:prstGeom prst="rect">
            <a:avLst/>
          </a:prstGeom>
          <a:solidFill>
            <a:srgbClr val="1B140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" y="2743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743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5544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1B14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4300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371600"/>
            <a:ext cx="3794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Международные валютно-кредитные и финансовые отношения / под ред. Л. Н. Красавиной. — 3-е изд. — М.: Финансы и статистика, 2005.</a:t>
            </a:r>
            <a:endParaRPr lang="en-US" sz="8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Моисеев С. Р. Международные валютно-кредитные отношения. — 2-е изд. — М.: Дело и Сервис, 2007.</a:t>
            </a:r>
            <a:endParaRPr lang="en-US" sz="8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Эйхенгрин Б. Непомерная привилегия: взлёт и падение доллара. — М.: Изд-во Института Гайдара, 2013.</a:t>
            </a:r>
            <a:endParaRPr lang="en-US" sz="8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Eichengreen B. Globalizing Capital. — 3rd ed. — Princeton UP, 2019.</a:t>
            </a:r>
            <a:endParaRPr lang="en-US" sz="8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Triffin R. Gold and the Dollar Crisis. — Yale UP, 1960.</a:t>
            </a:r>
            <a:endParaRPr lang="en-US" sz="8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Steil B. The Battle of Bretton Woods. — Princeton UP, 2013.</a:t>
            </a:r>
            <a:endParaRPr lang="en-US" sz="8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IMF: Articles of Agreement; Review of the Method of Valuation of the SDR (2022); COFER.</a:t>
            </a:r>
            <a:endParaRPr lang="en-US" sz="85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​</a:t>
            </a:r>
            <a:r>
              <a:rPr lang="en-US" sz="850" dirty="0">
                <a:solidFill>
                  <a:srgbClr val="4D3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Gold Council: The Bretton Woods System; Central bank gold statistics (2026).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Парижа до Ямайки</dc:title>
  <dc:subject>Парижская, Генуэзская, Бреттон-Вудская и Ямайская валютные системы</dc:subject>
  <dc:creator>PptxGenJS</dc:creator>
  <cp:lastModifiedBy>PptxGenJS</cp:lastModifiedBy>
  <cp:revision>1</cp:revision>
  <dcterms:created xsi:type="dcterms:W3CDTF">2026-09-24T14:46:19Z</dcterms:created>
  <dcterms:modified xsi:type="dcterms:W3CDTF">2026-09-24T14:46:19Z</dcterms:modified>
</cp:coreProperties>
</file>