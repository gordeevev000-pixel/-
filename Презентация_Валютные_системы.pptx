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Выделено</c:v>
                </c:pt>
              </c:strCache>
            </c:strRef>
          </c:tx>
          <c:spPr>
            <a:solidFill>
              <a:srgbClr val="1E5B4A"/>
            </a:solidFill>
            <a:effectLst/>
          </c:spPr>
          <c:invertIfNegative val="0"/>
          <c:dLbls>
            <c:numFmt formatCode="0.0#&quot;%&quot;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31F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Доллар США</c:v>
                  </c:pt>
                  <c:pt idx="1">
                    <c:v>Евро</c:v>
                  </c:pt>
                  <c:pt idx="2">
                    <c:v>Фунт, канад. и австрал. доллары, франк</c:v>
                  </c:pt>
                  <c:pt idx="3">
                    <c:v>Прочие валюты</c:v>
                  </c:pt>
                  <c:pt idx="4">
                    <c:v>Японская иена</c:v>
                  </c:pt>
                  <c:pt idx="5">
                    <c:v>Китайский юань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57.13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Остальные</c:v>
                </c:pt>
              </c:strCache>
            </c:strRef>
          </c:tx>
          <c:spPr>
            <a:solidFill>
              <a:srgbClr val="9CC3B4"/>
            </a:solidFill>
            <a:effectLst/>
          </c:spPr>
          <c:invertIfNegative val="0"/>
          <c:dLbls>
            <c:numFmt formatCode="0.0#&quot;%&quot;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31F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Доллар США</c:v>
                  </c:pt>
                  <c:pt idx="1">
                    <c:v>Евро</c:v>
                  </c:pt>
                  <c:pt idx="2">
                    <c:v>Фунт, канад. и австрал. доллары, франк</c:v>
                  </c:pt>
                  <c:pt idx="3">
                    <c:v>Прочие валюты</c:v>
                  </c:pt>
                  <c:pt idx="4">
                    <c:v>Японская иена</c:v>
                  </c:pt>
                  <c:pt idx="5">
                    <c:v>Китайский юань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20.03</c:v>
                </c:pt>
                <c:pt idx="2">
                  <c:v>9.23</c:v>
                </c:pt>
                <c:pt idx="3">
                  <c:v>6.18</c:v>
                </c:pt>
                <c:pt idx="4">
                  <c:v>5.44</c:v>
                </c:pt>
                <c:pt idx="5">
                  <c:v>1.99</c:v>
                </c:pt>
              </c:numCache>
            </c:numRef>
          </c:val>
        </c:ser>
        <c:dLbls>
          <c:numFmt formatCode="0.0#&quot;%&quot;;;;" sourceLinked="0"/>
          <c:txPr>
            <a:bodyPr/>
            <a:lstStyle/>
            <a:p>
              <a:pPr>
                <a:defRPr b="0" i="0" strike="noStrike" sz="1100" u="none">
                  <a:solidFill>
                    <a:srgbClr val="14231F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3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6"/>
          <c:min val="0"/>
        </c:scaling>
        <c:delete val="1"/>
        <c:axPos val="b"/>
        <c:majorGridlines>
          <c:spPr>
            <a:ln w="6350" cap="flat">
              <a:solidFill>
                <a:srgbClr val="C9D1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1F3EE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Выделено</c:v>
                </c:pt>
              </c:strCache>
            </c:strRef>
          </c:tx>
          <c:spPr>
            <a:solidFill>
              <a:srgbClr val="1E5B4A"/>
            </a:solidFill>
            <a:effectLst/>
          </c:spPr>
          <c:invertIfNegative val="0"/>
          <c:dLbls>
            <c:numFmt formatCode="0.0#&quot;%&quot;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31F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Доллар США</c:v>
                  </c:pt>
                  <c:pt idx="1">
                    <c:v>Евро</c:v>
                  </c:pt>
                  <c:pt idx="2">
                    <c:v>Китайский юань</c:v>
                  </c:pt>
                  <c:pt idx="3">
                    <c:v>Японская иена</c:v>
                  </c:pt>
                  <c:pt idx="4">
                    <c:v>Фунт стерлингов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43.38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Остальные</c:v>
                </c:pt>
              </c:strCache>
            </c:strRef>
          </c:tx>
          <c:spPr>
            <a:solidFill>
              <a:srgbClr val="9CC3B4"/>
            </a:solidFill>
            <a:effectLst/>
          </c:spPr>
          <c:invertIfNegative val="0"/>
          <c:dLbls>
            <c:numFmt formatCode="0.0#&quot;%&quot;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31F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Доллар США</c:v>
                  </c:pt>
                  <c:pt idx="1">
                    <c:v>Евро</c:v>
                  </c:pt>
                  <c:pt idx="2">
                    <c:v>Китайский юань</c:v>
                  </c:pt>
                  <c:pt idx="3">
                    <c:v>Японская иена</c:v>
                  </c:pt>
                  <c:pt idx="4">
                    <c:v>Фунт стерлингов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29.31</c:v>
                </c:pt>
                <c:pt idx="2">
                  <c:v>12.28</c:v>
                </c:pt>
                <c:pt idx="3">
                  <c:v>7.59</c:v>
                </c:pt>
                <c:pt idx="4">
                  <c:v>7.44</c:v>
                </c:pt>
              </c:numCache>
            </c:numRef>
          </c:val>
        </c:ser>
        <c:dLbls>
          <c:numFmt formatCode="0.0#&quot;%&quot;;;;" sourceLinked="0"/>
          <c:txPr>
            <a:bodyPr/>
            <a:lstStyle/>
            <a:p>
              <a:pPr>
                <a:defRPr b="0" i="0" strike="noStrike" sz="1100" u="none">
                  <a:solidFill>
                    <a:srgbClr val="14231F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3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b"/>
        <c:majorGridlines>
          <c:spPr>
            <a:ln w="6350" cap="flat">
              <a:solidFill>
                <a:srgbClr val="C9D1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1F3EE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Выделено</c:v>
                </c:pt>
              </c:strCache>
            </c:strRef>
          </c:tx>
          <c:spPr>
            <a:solidFill>
              <a:srgbClr val="1E5B4A"/>
            </a:solidFill>
            <a:effectLst/>
          </c:spPr>
          <c:invertIfNegative val="0"/>
          <c:dLbls>
            <c:numFmt formatCode="0.0#&quot;%&quot;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31F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Российский рубль</c:v>
                  </c:pt>
                  <c:pt idx="1">
                    <c:v>Юань и другие валюты</c:v>
                  </c:pt>
                  <c:pt idx="2">
                    <c:v>Доллар США и евро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53.7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Остальные</c:v>
                </c:pt>
              </c:strCache>
            </c:strRef>
          </c:tx>
          <c:spPr>
            <a:solidFill>
              <a:srgbClr val="9CC3B4"/>
            </a:solidFill>
            <a:effectLst/>
          </c:spPr>
          <c:invertIfNegative val="0"/>
          <c:dLbls>
            <c:numFmt formatCode="0.0#&quot;%&quot;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31F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Российский рубль</c:v>
                  </c:pt>
                  <c:pt idx="1">
                    <c:v>Юань и другие валюты</c:v>
                  </c:pt>
                  <c:pt idx="2">
                    <c:v>Доллар США и евро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31.9</c:v>
                </c:pt>
                <c:pt idx="2">
                  <c:v>14.4</c:v>
                </c:pt>
              </c:numCache>
            </c:numRef>
          </c:val>
        </c:ser>
        <c:dLbls>
          <c:numFmt formatCode="0.0#&quot;%&quot;;;;" sourceLinked="0"/>
          <c:txPr>
            <a:bodyPr/>
            <a:lstStyle/>
            <a:p>
              <a:pPr>
                <a:defRPr b="0" i="0" strike="noStrike" sz="1100" u="none">
                  <a:solidFill>
                    <a:srgbClr val="14231F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3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4"/>
          <c:min val="0"/>
        </c:scaling>
        <c:delete val="1"/>
        <c:axPos val="b"/>
        <c:majorGridlines>
          <c:spPr>
            <a:ln w="6350" cap="flat">
              <a:solidFill>
                <a:srgbClr val="C9D1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1F3EE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Тема доклада — «Национальная и мировая валютные системы», четвёртый вопрос темы «Валютные отношения в мировой экономике».
Я расскажу, как государства договариваются о том, чем платить друг другу и по какому курсу менять деньги, и как эти правила менялись за полтора века: от золотой монеты 1867 года до цифрового рубля, массовое внедрение которого началось в этом, 2026 году.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Начну с того, почему это важно. На слайде три цифры.
Первая — 9,6 триллиона долларов. Столько в среднем за день проходило через мировой валютный рынок в апреле 2025 года, по данным Банка международных расчётов. Это больше годового ВВП любой страны, кроме США и Китая, — и это за один день.
Вторая — 57 процентов. Такая доля мировых валютных резервов хранится в долларах США.
Третья цифра — про Россию: в 2025 году 53,7 процента нашего экспорта оплачено в рублях.
Чтобы такие потоки были предсказуемыми, нужны общие правила: чем платить, по какому курсу менять одну валюту на другую, в чём хранить резервы. Совокупность этих правил и называется валютной системой.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разведём два понятия. Валютные отношения — это сами экономические связи, которые возникают, когда деньги пересекают границу: оплата импорта, кредиты, инвестиции, поездки. Это содержание. Валютная система — организационная форма этих отношений, закреплённая законом или договором.
Выделяют три уровня. Национальная система — правила одной страны, закреплённые её законодательством; у нас это рубль, закон 173-ФЗ и Банк России. Региональная — договорные правила группы стран; главный пример — еврозона, где с 1 января 2026 года 21 страна. Мировая — глобальные правила, закреплённые межгосударственными соглашениями; сегодня это Ямайская система под надзором МВФ.
Исторически первична именно национальная система: мировая складывается на её основе, когда валюты ведущих стран начинают служить международным платёжным и резервным средством.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Национальная валютная система состоит из девяти элементов.
Первый — сама национальная валюта, законное платёжное средство; рубль сегодня существует в наличной, безналичной и цифровой форме. Второй — конвертируемость: условия обмена на иностранные валюты по текущим операциям, например в торговле, и по капитальным, например при инвестициях. Третий — паритет, основа соотношения с другими валютами: раньше это было золотое содержание, сегодня курс определяет рынок. Четвёртый — режим курса: фиксированный, плавающий или промежуточный.
Дальше идут валютное регулирование и контроль; валютная ликвидность, то есть резервы страны; правила международных расчётов — аккредитивы, инкассо, банковские переводы; порядок работы валютного рынка и рынка золота. И наконец, органы регулирования: центральный банк, министерство финансов, налоговая служба и таможня.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Мировая валютная система устроена зеркально: каждому национальному элементу соответствует элемент мирового уровня. Национальной валюте — резервные валюты и СДР. Паритету — унифицированный режим паритетов. Резервам страны — регулирование мировой валютной ликвидности. Центральному банку и минфину — международные организации: МВФ и Банк международных расчётов.
Главное отличие — в источнике правил. Внутри страны их устанавливает закон, а между странами — договор, который государства подписывают добровольно. Поэтому мировая система всегда держится на компромиссе интересов.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160 лет сменились четыре мировые валютные системы: Парижская — с 1867 года, Генуэзская — с 1922-го, Бреттон-Вудская — с 1944-го и Ямайская — с 1976 года по сей день.
На шкале видно, что первые три так или иначе опирались на золото, а в Ямайской золото демонетизировано. Пунктиром отмечены переломные события: Первая мировая война, отказ Великобритании от размена в 1931 году и «шок Никсона» 1971 года.
Закономерность такая: каждая новая система — ответ на кризис предыдущей. Золота не хватало быстро растущей мировой экономике, а привязка к валюте одной страны сталкивала её интересы с потребностями всего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система — Парижская, её оформили на конференции 1867 года. Это золотомонетный стандарт. У каждой валюты было официальное золотое содержание, банкноты свободно менялись на золото, а золото свободно вывозилось за границу. Поэтому курс колебался только в узких пределах — «золотых точках»: если курс уходил дальше, чем стоимость пересылки золота, выгоднее было просто отправить золото, и курс возвращался. Система распалась в Первую мировую войну: воюющим странам нужно было финансировать расходы, и они прекратили размен.
В 1922 году на Генуэзской конференции ввели золотодевизный стандарт. Девизы — это платёжные средства в иностранной валюте: наряду с золотом в резервах стали держать фунт стерлингов и доллар. Размен стал ограниченным: в Великобритании и Франции — только на слитки, в других странах — на девизы. Курсы свободно колебались. Эту систему разрушила Великая депрессия: Великобритания отменила размен в 1931 году, США — в 1933-м.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июле 1944 года, ещё до конца войны, 44 государства подписали соглашение в Бреттон-Вудсе, в США. В центре новой системы оказался доллар: США обязались обменивать доллары иностранных центральных банков на золото по фиксированной цене — 35 долларов за тройскую унцию. Остальные валюты привязывались к доллару, и курс мог отклоняться от паритета не больше чем на один процент. Для надзора и кредитования создали Международный валютный фонд и Международный банк реконструкции и развития.
Но в систему было заложено противоречие — дилемма Триффина. Чтобы миру хватало денег для торговли, США должны были постоянно выпускать доллары за рубеж. А чем больше долларов накапливалось за границей по сравнению с золотым запасом США, тем меньше верилось, что их действительно обменяют на золото.
В итоге 15 августа 1971 года президент Никсон приостановил обмен долларов на золото. В декабре Смитсоновское соглашение попыталось спасти систему: цену подняли до 38 долларов за унцию, а коридор расширили до 2,25 процента. Но уже в 1973 году ведущие страны перешли к плавающим курсам.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Новую систему оформили соглашением в Кингстоне на Ямайке в январе 1976 года; поправка к Уставу МВФ вступила в силу в апреле 1978-го. В её основе четыре принципа.
Первый — стандарт СДР вместо золотодевизного. На практике СДР главной опорой так и не стали: сложился многовалютный стандарт, в котором доминирует доллар. Второй — демонетизация золота: отменены официальная цена золота и золотые паритеты, золото больше не мера стоимости валют. Третий — свобода выбора режима курса: плавание, привязка к одной валюте или к корзине — на усмотрение страны. Четвёртый — надзор МВФ: фонд следит за валютной политикой стран-членов и кредитует их в кризисы.
Плюс системы — гибкость: плавающие курсы гасят внешние шоки. Минус — волатильность и валютные кризисы: Латинская Америка в 1980-х, Азия и Россия в 1997–1998 годах.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система выглядит сегодня? Формально она многовалютная, фактически — долларовая.
На диаграмме — структура мировых валютных резервов по данным МВФ за первый квартал 2026 года. Доллар — 57 процентов, евро — около 20. Фунт, канадский и австралийский доллары и швейцарский франк вместе — чуть больше 9 процентов, иена — около 5,4, юань — всего около 2 процентов.
В 2000 году доля доллара превышала 70 процентов, то есть она снижается, но медленно. А на валютном рынке позиции доллара ещё сильнее: по данным БМР, он участвует примерно в 89 процентах всех сделок.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Отдельно про СДР — специальные права заимствования. МВФ создал их в 1969 году как дополнительный резервный актив. СДР — не деньги для частных расчётов: это счётная единица и резервный актив государств.
Стоимость СДР рассчитывается по корзине из пяти валют. Сейчас веса такие: доллар — 43,4 процента, евро — 29,3, юань — 12,3, иена — 7,6 и фунт — 7,4. Юань вошёл в корзину в 2016 году. Корзину пересматривают раз в пять лет, следующий пересмотр — до конца июля 2027 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Куда движется мировая валютная система? Выделю пять тенденций.
Первая — диверсификация резервов: доля доллара понемногу снижается, растёт доля «нетрадиционных» валют — канадского и австралийского долларов, юаня. Вторая — возвращение золота: центральные банки активно его покупают, и в 2025 году золото обогнало в резервах государственные облигации США, во многом из-за роста цены. Третья — регионализация: укрепляются валютные союзы, с 2026 года после вступления Болгарии в еврозоне 21 страна.
Четвёртая — расчёты в национальных валютах: торговля переходит на собственные валюты, строится альтернативная платёжная инфраструктура. Пятая — цифровые валюты центральных банков: Китай, Россия, Индия внедряют цифровую форму своих денег.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о России. Национальная валюта — рубль, и он существует в трёх формах: наличной, безналичной и цифровой. С 10 ноября 2014 года курс рубля плавающий, а Банк России проводит политику таргетирования инфляции. Правовая основа — закон 173-ФЗ «О валютном регулировании и валютном контроле». Регулируют систему Правительство и Банк России, контроль ведут налоговая служба, таможня и уполномоченные банки. Полная конвертируемость рубля была достигнута в 2006 году, а с 2022 года действуют ограничения по операциям с капиталом.
Главная перемена последних лет — на диаграмме. В 2025 году 53,7 процента экспорта оплачено в рублях, около 32 процентов — в юанях и других валютах, в основном дружественных стран, и лишь 14,4 процента — в долларах и евро. Для сравнения: в 2021 году около 85 процентов расчётов шло в западных валютах.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Цифровой рубль — третья форма национальной валюты, наряду с наличными и безналичными деньгами. Он обменивается на обычный рубль один к одному. Отличие в том, где хранятся деньги: цифровые рубли лежат не на счёте в коммерческом банке, а на платформе Банка России, а банки выступают посредниками.
Правовая основа появилась в июле 2023 года — это закон № 340-ФЗ. Массовое внедрение идёт в три волны. С 1 сентября 2026 года с цифровым рублём работают крупнейшие банки и торговые компании с выручкой больше 120 миллионов рублей в год. С 1 сентября 2027 года порог выручки снизится до 30 миллионов, а с 1 сентября 2028 года — до 20 миллионов, и обязанность распространится на все банки.
Использовать цифровые валюты центробанков в международных расчётах пока только обсуждают.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итоги.
Первое: национальная система — основа. Мировая строится на национальных, и каждому её элементу соответствует элемент национальной, только регулируется он договором государств.
Второе: смена систем — ответ на кризис. Париж, Генуя, Бреттон-Вудс, Ямайка — путь от золотой монеты к плавающим курсам и многовалютному стандарту.
Третье: доллар по-прежнему в центре — около 57 процентов резервов и около 89 процентов валютных сделок. Формально многовалютная система остаётся долларовой.
Четвёртое: тренд — многополярность: золото, региональные союзы, расчёты в национальных валютах и цифровые деньги. Россия здесь на острие: больше половины экспорта уже оплачивается в рублях.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последнем слайде — список источников: законы о валютном регулировании, о Центральном банке и о цифровом рубле, учебник под редакцией Л. Н. Красавиной, книги Барри Эйхенгрина, а также данные МВФ, Банка международных расчётов, Банка России и Европейского центрального банка.
Спасибо за внимание! С удовольствием отвечу на ваши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data.imf.org/en/news/imf%20data%20brief%20july%201" TargetMode="External"/><Relationship Id="rId2" Type="http://schemas.openxmlformats.org/officeDocument/2006/relationships/hyperlink" Target="https://www.imf.org/en/about/factsheets/sheets/2023/special-drawing-rights-sdr" TargetMode="External"/><Relationship Id="rId3" Type="http://schemas.openxmlformats.org/officeDocument/2006/relationships/hyperlink" Target="https://www.imf.org/en/news/articles/2022/05/14/pr22153-imf-board-concludes-sdr-valuation-review" TargetMode="External"/><Relationship Id="rId4" Type="http://schemas.openxmlformats.org/officeDocument/2006/relationships/hyperlink" Target="https://www.bis.org/statistics/rpfx25_fx.htm" TargetMode="External"/><Relationship Id="rId5" Type="http://schemas.openxmlformats.org/officeDocument/2006/relationships/hyperlink" Target="https://cbr.ru/press/event/?id=25772" TargetMode="External"/><Relationship Id="rId6" Type="http://schemas.openxmlformats.org/officeDocument/2006/relationships/hyperlink" Target="https://iz.ru/2052227/2026-03-03/rekordnye-raschety-v-natcvaliutakh-uderzhat-rubl-krepkim-na-dolgoe-vremia" TargetMode="External"/><Relationship Id="rId7" Type="http://schemas.openxmlformats.org/officeDocument/2006/relationships/hyperlink" Target="https://www.kommersant.ru/doc/8625334" TargetMode="External"/><Relationship Id="rId8" Type="http://schemas.openxmlformats.org/officeDocument/2006/relationships/hyperlink" Target="https://www.ecb.europa.eu/euro/changeover/bulgaria/html/index.en.html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и мировая валютные системы</a:t>
            </a:r>
            <a:pPr indent="0" marL="0">
              <a:buNone/>
            </a:pPr>
            <a:r>
              <a:rPr lang="en-US" sz="1300" i="1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доклад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219895" y="256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№ 01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5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ТЕМА 2 · ВАЛЮТНЫЕ ОТНОШЕНИЯ В МИРОВОЙ ЭКОНОМИКЕ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6400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и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мировая валютные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системы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43484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государства организуют обмен валют — от золотой монеты 1867 года до цифрового рубля 2026-го.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486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ДОКЛАД     2026     </a:t>
            </a:r>
            <a:pPr indent="0" marL="0">
              <a:buNone/>
            </a:pPr>
            <a:r>
              <a:rPr lang="en-US" sz="1700" i="1" dirty="0">
                <a:solidFill>
                  <a:srgbClr val="A57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№ 4</a:t>
            </a:r>
            <a:endParaRPr lang="en-US" sz="1400" dirty="0"/>
          </a:p>
        </p:txBody>
      </p:sp>
      <p:pic>
        <p:nvPicPr>
          <p:cNvPr id="10" name="Image 0" descr="/tmp/claude-0/-home-user--/afb8e47c-04a7-58d5-8b9f-fe2db069db63/scratchpad/roset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325880"/>
            <a:ext cx="406908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и мировая валютные системы</a:t>
            </a:r>
            <a:pPr indent="0" marL="0">
              <a:buNone/>
            </a:pPr>
            <a:r>
              <a:rPr lang="en-US" sz="1300" i="1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доклад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219895" y="256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№ 02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5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ВВЕДЕНИЕ · ПОЧЕМУ ЭТО ВАЖНО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3258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Валютные системы обслуживают триллионы долларов в день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85800" y="2514600"/>
            <a:ext cx="10820095" cy="0"/>
          </a:xfrm>
          <a:prstGeom prst="line">
            <a:avLst/>
          </a:prstGeom>
          <a:noFill/>
          <a:ln w="12700">
            <a:solidFill>
              <a:srgbClr val="1423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743200"/>
            <a:ext cx="31952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dirty="0">
                <a:solidFill>
                  <a:srgbClr val="1E5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9,6 </a:t>
            </a:r>
            <a:pPr indent="0" marL="0">
              <a:buNone/>
            </a:pPr>
            <a:r>
              <a:rPr lang="en-US" sz="2400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трлн $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794760"/>
            <a:ext cx="3195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среднедневной оборот мирового валютного рынка в апреле 2025 г.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507992"/>
            <a:ext cx="3195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БМР, обследование 2025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2498" y="2514600"/>
            <a:ext cx="0" cy="233172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66818" y="2743200"/>
            <a:ext cx="31952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dirty="0">
                <a:solidFill>
                  <a:srgbClr val="1E5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 </a:t>
            </a:r>
            <a:pPr indent="0" marL="0">
              <a:buNone/>
            </a:pPr>
            <a:r>
              <a:rPr lang="en-US" sz="2400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66818" y="3794760"/>
            <a:ext cx="3195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мировых валютных резервов хранится в долларах США (I кв. 2026 г.)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66818" y="4507992"/>
            <a:ext cx="3195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МВФ, COFER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899197" y="2514600"/>
            <a:ext cx="0" cy="233172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73517" y="2743200"/>
            <a:ext cx="31952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dirty="0">
                <a:solidFill>
                  <a:srgbClr val="1E5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53,7 </a:t>
            </a:r>
            <a:pPr indent="0" marL="0">
              <a:buNone/>
            </a:pPr>
            <a:r>
              <a:rPr lang="en-US" sz="2400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173517" y="3794760"/>
            <a:ext cx="31952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российского экспорта в 2025 г. оплачено в рублях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173517" y="4507992"/>
            <a:ext cx="3195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Банк России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525780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такой поток платежей был предсказуемым, нужны правила: чем платить, по какому курсу менять, в чём хранить резервы. Эти правила и есть валютная система.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и мировая валютные системы</a:t>
            </a:r>
            <a:pPr indent="0" marL="0">
              <a:buNone/>
            </a:pPr>
            <a:r>
              <a:rPr lang="en-US" sz="1300" i="1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доклад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219895" y="256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№ 03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5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· ПОНЯТИЯ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3258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Валютная система — форма организации валютных отношений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3172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Валютные отношения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содержание,  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валютная система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организационная форма, закреплённая законом или договором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3246120"/>
            <a:ext cx="3423818" cy="2103120"/>
          </a:xfrm>
          <a:prstGeom prst="rect">
            <a:avLst/>
          </a:prstGeom>
          <a:solidFill>
            <a:srgbClr val="F1F3EE"/>
          </a:solidFill>
          <a:ln w="12700">
            <a:solidFill>
              <a:srgbClr val="C9D1C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3447288"/>
            <a:ext cx="296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УРОВЕНЬ 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703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1605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организации валютных отношений одной страны, закреплённая её законодательством.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4892040"/>
            <a:ext cx="296661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914400" y="498348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Россия: рубль, 173-ФЗ, Банк России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83938" y="3246120"/>
            <a:ext cx="3423818" cy="2103120"/>
          </a:xfrm>
          <a:prstGeom prst="rect">
            <a:avLst/>
          </a:prstGeom>
          <a:solidFill>
            <a:srgbClr val="F1F3EE"/>
          </a:solidFill>
          <a:ln w="12700">
            <a:solidFill>
              <a:srgbClr val="C9D1C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12538" y="3447288"/>
            <a:ext cx="296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УРОВЕНЬ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612538" y="3703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Региональная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4612538" y="41605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Договорная форма организации валютных отношений группы стран.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12538" y="4892040"/>
            <a:ext cx="296661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4612538" y="498348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Еврозона: 21 страна с 1 января 2026 г.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082077" y="3246120"/>
            <a:ext cx="3423818" cy="2103120"/>
          </a:xfrm>
          <a:prstGeom prst="rect">
            <a:avLst/>
          </a:prstGeom>
          <a:solidFill>
            <a:srgbClr val="E6EAE3"/>
          </a:solidFill>
          <a:ln w="12700">
            <a:solidFill>
              <a:srgbClr val="1E5B4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10677" y="3447288"/>
            <a:ext cx="296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УРОВЕНЬ 3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310677" y="3703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Мировая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8310677" y="416052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Глобальная форма, закреплённая межгосударственными соглашениями.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310677" y="4892040"/>
            <a:ext cx="296661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8310677" y="498348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Ямайская система, надзор МВФ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56235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 первична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национальная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система: мировая складывается на её основе, когда валюты ведущих стран начинают служить международным платёжным и резервным средством.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и мировая валютные системы</a:t>
            </a:r>
            <a:pPr indent="0" marL="0">
              <a:buNone/>
            </a:pPr>
            <a:r>
              <a:rPr lang="en-US" sz="1300" i="1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доклад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219895" y="256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№ 04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5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· НАЦИОНАЛЬНАЯ ВАЛЮТНАЯ СИСТЕМА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3258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Девять элементов национальной системы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85800" y="2194560"/>
            <a:ext cx="10820095" cy="0"/>
          </a:xfrm>
          <a:prstGeom prst="line">
            <a:avLst/>
          </a:prstGeom>
          <a:noFill/>
          <a:ln w="12700">
            <a:solidFill>
              <a:srgbClr val="1423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267712"/>
            <a:ext cx="3195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валюта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871216"/>
            <a:ext cx="3195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Законное платёжное средство — рубль в наличной, безналичной и цифровой форме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3547872"/>
            <a:ext cx="360669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1098" y="2267712"/>
            <a:ext cx="3195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Конвертируемость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21098" y="2871216"/>
            <a:ext cx="3195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обмена на иностранные валюты по текущим и капитальным операциям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292498" y="3547872"/>
            <a:ext cx="360669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2498" y="2194560"/>
            <a:ext cx="0" cy="1353312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27797" y="2267712"/>
            <a:ext cx="3195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Паритет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127797" y="2871216"/>
            <a:ext cx="3195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 соотношения с другими валютами: раньше золото, сегодня рынок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899197" y="3547872"/>
            <a:ext cx="360669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99197" y="2194560"/>
            <a:ext cx="0" cy="1353312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621024"/>
            <a:ext cx="3195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Режим курса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224528"/>
            <a:ext cx="3195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Фиксированный, плавающий или промежуточный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85800" y="4901184"/>
            <a:ext cx="360669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21098" y="3621024"/>
            <a:ext cx="3195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Валютное регулирование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4521098" y="4224528"/>
            <a:ext cx="3195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операций, ограничения, валютный контроль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292498" y="4901184"/>
            <a:ext cx="360669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92498" y="3547872"/>
            <a:ext cx="0" cy="1353312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127797" y="3621024"/>
            <a:ext cx="3195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Валютная ликвидность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8127797" y="4224528"/>
            <a:ext cx="3195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Резервы: валюта, золото, позиция в МВФ, СДР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899197" y="4901184"/>
            <a:ext cx="360669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899197" y="3547872"/>
            <a:ext cx="0" cy="1353312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5800" y="4974336"/>
            <a:ext cx="3195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Международные расчёты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5577840"/>
            <a:ext cx="3195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Аккредитивы, инкассо, банковские переводы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85800" y="6254496"/>
            <a:ext cx="360669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521098" y="4974336"/>
            <a:ext cx="3195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Валютный рынок и рынок золота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4521098" y="5577840"/>
            <a:ext cx="3195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торговли, участники, инфраструктура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292498" y="6254496"/>
            <a:ext cx="360669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292498" y="4901184"/>
            <a:ext cx="0" cy="1353312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127797" y="4974336"/>
            <a:ext cx="3195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Органы регулирования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8127797" y="5577840"/>
            <a:ext cx="3195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Центральный банк, минфин, налоговая и таможня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7899197" y="6254496"/>
            <a:ext cx="360669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899197" y="4901184"/>
            <a:ext cx="0" cy="1353312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и мировая валютные системы</a:t>
            </a:r>
            <a:pPr indent="0" marL="0">
              <a:buNone/>
            </a:pPr>
            <a:r>
              <a:rPr lang="en-US" sz="1300" i="1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доклад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219895" y="256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№ 05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5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 · МИРОВАЯ ВАЛЮТНАЯ СИСТЕМА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Каждому элементу — свой аналог на мировом уровне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94560"/>
          <a:ext cx="10820095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731520"/>
                <a:gridCol w="51508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4D5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НАЦИОНАЛЬНАЯ СИСТЕМА — ЗАКОН СТРАНЫ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42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42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100" kern="0" dirty="0">
                          <a:solidFill>
                            <a:srgbClr val="4D5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МИРОВАЯ СИСТЕМА — МЕЖГОСУДАРСТВЕННЫЙ ДОГОВОР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423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Национальная валюта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57F2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→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5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Резервные валюты и СДР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Конвертируемость валюты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57F2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→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5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Условия взаимной конвертируемости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Паритет валюты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57F2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→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5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Унифицированный режим паритетов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 курса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57F2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→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5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Регламентация режимов курсов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Валютные ограничения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57F2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→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5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Межгосударственное регулирование ограничений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Резервы страны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57F2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→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5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Регулирование мировой валютной ликвидности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Правила расчётов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57F2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→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5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Унификация векселей и чеков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Валютный рынок и рынок золота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57F2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→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5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Мировые валютные рынки и рынки золота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Центральный банк, минфин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57F2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→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5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МВФ, Банк международных расчётов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08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9D1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и мировая валютные системы</a:t>
            </a:r>
            <a:pPr indent="0" marL="0">
              <a:buNone/>
            </a:pPr>
            <a:r>
              <a:rPr lang="en-US" sz="1300" i="1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доклад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219895" y="256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№ 06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5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 · ЭВОЛЮЦИЯ МИРОВОЙ ВАЛЮТНОЙ СИСТЕМЫ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системы за 160 лет: от золота к плавающим курсам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1131333" y="3657600"/>
            <a:ext cx="3473187" cy="914400"/>
          </a:xfrm>
          <a:prstGeom prst="rect">
            <a:avLst/>
          </a:prstGeom>
          <a:solidFill>
            <a:srgbClr val="E3CF9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04485" y="3730752"/>
            <a:ext cx="33634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Парижская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42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1867–1922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42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золотомонетный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31952" y="3429000"/>
            <a:ext cx="1372816" cy="1143000"/>
          </a:xfrm>
          <a:prstGeom prst="rect">
            <a:avLst/>
          </a:prstGeom>
          <a:solidFill>
            <a:srgbClr val="E3CF9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705104" y="3502152"/>
            <a:ext cx="1263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Генуэзская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42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1922–1944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42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золотодевизный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32200" y="3154680"/>
            <a:ext cx="2009292" cy="1417320"/>
          </a:xfrm>
          <a:prstGeom prst="rect">
            <a:avLst/>
          </a:prstGeom>
          <a:solidFill>
            <a:srgbClr val="E3CF9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05352" y="3227832"/>
            <a:ext cx="18995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Бреттон-Вудская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42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1944–1976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42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$35 за унцию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68924" y="2834640"/>
            <a:ext cx="3154949" cy="1737360"/>
          </a:xfrm>
          <a:prstGeom prst="rect">
            <a:avLst/>
          </a:prstGeom>
          <a:solidFill>
            <a:srgbClr val="1E5B4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42076" y="2907792"/>
            <a:ext cx="3045221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1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Ямайская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1F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1976–н. в.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1F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многовалютный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122771" y="2560320"/>
            <a:ext cx="0" cy="2011680"/>
          </a:xfrm>
          <a:prstGeom prst="line">
            <a:avLst/>
          </a:prstGeom>
          <a:noFill/>
          <a:ln w="9525">
            <a:solidFill>
              <a:srgbClr val="4D5B56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4168491" y="25420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1914 · война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204781" y="2331720"/>
            <a:ext cx="0" cy="2240280"/>
          </a:xfrm>
          <a:prstGeom prst="line">
            <a:avLst/>
          </a:prstGeom>
          <a:noFill/>
          <a:ln w="9525">
            <a:solidFill>
              <a:srgbClr val="4D5B56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5250501" y="2313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1931 · отказ Британии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750686" y="2560320"/>
            <a:ext cx="0" cy="2011680"/>
          </a:xfrm>
          <a:prstGeom prst="line">
            <a:avLst/>
          </a:prstGeom>
          <a:noFill/>
          <a:ln w="9525">
            <a:solidFill>
              <a:srgbClr val="4D5B56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7796406" y="25420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1971 · «шок Никсона»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1251305" y="2331720"/>
            <a:ext cx="0" cy="2240280"/>
          </a:xfrm>
          <a:prstGeom prst="line">
            <a:avLst/>
          </a:prstGeom>
          <a:noFill/>
          <a:ln w="9525">
            <a:solidFill>
              <a:srgbClr val="4D5B56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9193905" y="2313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85800" y="4572000"/>
            <a:ext cx="10820095" cy="0"/>
          </a:xfrm>
          <a:prstGeom prst="line">
            <a:avLst/>
          </a:prstGeom>
          <a:noFill/>
          <a:ln w="12700">
            <a:solidFill>
              <a:srgbClr val="1423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592992" y="4645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1880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65945" y="4645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1900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138897" y="4645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1920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411850" y="4645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1940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684802" y="4645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1960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957754" y="4645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1980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230707" y="4645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503659" y="4645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85800" y="5157216"/>
            <a:ext cx="146304" cy="146304"/>
          </a:xfrm>
          <a:prstGeom prst="rect">
            <a:avLst/>
          </a:prstGeom>
          <a:solidFill>
            <a:srgbClr val="E3CF97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14400" y="5120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 в основе системы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3337560" y="5157216"/>
            <a:ext cx="146304" cy="146304"/>
          </a:xfrm>
          <a:prstGeom prst="rect">
            <a:avLst/>
          </a:prstGeom>
          <a:solidFill>
            <a:srgbClr val="1E5B4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566160" y="5120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 демонетизировано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035040" y="5138928"/>
            <a:ext cx="0" cy="182880"/>
          </a:xfrm>
          <a:prstGeom prst="line">
            <a:avLst/>
          </a:prstGeom>
          <a:noFill/>
          <a:ln w="9525">
            <a:solidFill>
              <a:srgbClr val="4D5B56"/>
            </a:solidFill>
            <a:prstDash val="dash"/>
          </a:ln>
        </p:spPr>
      </p:sp>
      <p:sp>
        <p:nvSpPr>
          <p:cNvPr id="38" name="Text 35"/>
          <p:cNvSpPr txBox="1"/>
          <p:nvPr/>
        </p:nvSpPr>
        <p:spPr>
          <a:xfrm>
            <a:off x="6144768" y="5120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события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685800" y="55778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смена системы — ответ на кризис предыдущей: золота не хватало растущей экономике, а привязка к валюте одной страны сталкивала её интересы с потребностями всего мира.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и мировая валютные системы</a:t>
            </a:r>
            <a:pPr indent="0" marL="0">
              <a:buNone/>
            </a:pPr>
            <a:r>
              <a:rPr lang="en-US" sz="1300" i="1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доклад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219895" y="256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№ 07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5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 · ЭВОЛЮЦИЯ · ЗОЛОТОЙ ВЕК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3258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Золото как мера всех валют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40280"/>
            <a:ext cx="504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57F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1867 · ПАРИЖСКАЯ КОНФЕРЕНЦИЯ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56032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Парижская система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090672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Золотомонетный стандарт.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520440"/>
            <a:ext cx="50442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каждой валюты официальное золотое содержание;</a:t>
            </a:r>
            <a:endParaRPr lang="en-US" sz="1500" dirty="0"/>
          </a:p>
          <a:p>
            <a:pPr marL="254000" indent="-2540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банкноты свободно меняются на золото, золото свободно вывозится;</a:t>
            </a:r>
            <a:endParaRPr lang="en-US" sz="1500" dirty="0"/>
          </a:p>
          <a:p>
            <a:pPr marL="254000" indent="-2540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колеблется лишь в пределах «золотых точек» — стоимости пересылки золота.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85800" y="5440680"/>
            <a:ext cx="504428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685800" y="5550408"/>
            <a:ext cx="504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Распалась в Первую мировую войну: воюющие страны прекратили размен.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61608" y="2240280"/>
            <a:ext cx="504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57F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1922 · ГЕНУЭЗСКАЯ КОНФЕРЕНЦИЯ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61608" y="256032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Генуэзская система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461608" y="3090672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Золотодевизный стандарт.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61608" y="3520440"/>
            <a:ext cx="50442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наряду с золотом в резервах — девизы: фунт стерлингов и доллар;</a:t>
            </a:r>
            <a:endParaRPr lang="en-US" sz="1500" dirty="0"/>
          </a:p>
          <a:p>
            <a:pPr marL="254000" indent="-2540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размен ограничен: на слитки (Великобритания, Франция) или на девизы;</a:t>
            </a:r>
            <a:endParaRPr lang="en-US" sz="1500" dirty="0"/>
          </a:p>
          <a:p>
            <a:pPr marL="254000" indent="-254000">
              <a:lnSpc>
                <a:spcPct val="105000"/>
              </a:lnSpc>
              <a:spcAft>
                <a:spcPts val="600"/>
              </a:spcAft>
              <a:buSzPct val="100000"/>
              <a:buChar char="—"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свободно колеблющиеся курсы.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61608" y="5440680"/>
            <a:ext cx="504428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6461608" y="5550408"/>
            <a:ext cx="504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Разрушена Великой депрессией: Великобритания отменила размен в 1931 г., США — в 1933 г.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и мировая валютные системы</a:t>
            </a:r>
            <a:pPr indent="0" marL="0">
              <a:buNone/>
            </a:pPr>
            <a:r>
              <a:rPr lang="en-US" sz="1300" i="1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доклад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219895" y="256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№ 08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5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 · ЭВОЛЮЦИЯ · 1944–1973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3258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Бреттон-Вудс: доллар «как золото»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85800" y="2331720"/>
            <a:ext cx="2651760" cy="2651760"/>
          </a:xfrm>
          <a:prstGeom prst="ellipse">
            <a:avLst/>
          </a:prstGeom>
          <a:solidFill>
            <a:srgbClr val="F1F3EE"/>
          </a:solidFill>
          <a:ln w="12700">
            <a:solidFill>
              <a:srgbClr val="A57F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" y="2441448"/>
            <a:ext cx="2432304" cy="2432304"/>
          </a:xfrm>
          <a:prstGeom prst="ellipse">
            <a:avLst/>
          </a:prstGeom>
          <a:solidFill>
            <a:srgbClr val="F1F3EE"/>
          </a:solidFill>
          <a:ln w="9525">
            <a:solidFill>
              <a:srgbClr val="A57F22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685800" y="31089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A57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886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 ТРОЙСКУЮ УНЦИЮ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86200" y="2286000"/>
            <a:ext cx="7619695" cy="0"/>
          </a:xfrm>
          <a:prstGeom prst="line">
            <a:avLst/>
          </a:prstGeom>
          <a:noFill/>
          <a:ln w="12700">
            <a:solidFill>
              <a:srgbClr val="1423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86200" y="2395728"/>
            <a:ext cx="226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E5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3886200" y="2852928"/>
            <a:ext cx="2219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государства подписали соглашение в июле 1944 г.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26098" y="2286000"/>
            <a:ext cx="0" cy="109728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08978" y="2395728"/>
            <a:ext cx="226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E5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±1%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6608978" y="2852928"/>
            <a:ext cx="2219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допустимое отклонение курса от паритета к доллару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65997" y="2286000"/>
            <a:ext cx="0" cy="109728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8877" y="2395728"/>
            <a:ext cx="226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E5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МВФ, МБРР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148877" y="2852928"/>
            <a:ext cx="22198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институты надзора и кредитования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886200" y="3611880"/>
            <a:ext cx="0" cy="960120"/>
          </a:xfrm>
          <a:prstGeom prst="line">
            <a:avLst/>
          </a:prstGeom>
          <a:noFill/>
          <a:ln w="19050">
            <a:solidFill>
              <a:srgbClr val="A57F2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087368" y="3611880"/>
            <a:ext cx="7345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Дилемма Триффина.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миру хватало ликвидности, США должны выпускать доллары за рубеж; чем больше долларов накапливается, тем меньше доверия к их размену на золото.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886200" y="4846320"/>
            <a:ext cx="7619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600"/>
              </a:spcAft>
              <a:buSzPct val="100000"/>
              <a:buChar char="—"/>
            </a:pPr>
            <a:r>
              <a:rPr lang="en-US" sz="1400" b="1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августа 1971 г.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Р. Никсон приостановил обмен долларов на золото;</a:t>
            </a:r>
            <a:endParaRPr lang="en-US" sz="1400" dirty="0"/>
          </a:p>
          <a:p>
            <a:pPr marL="254000" indent="-254000">
              <a:spcAft>
                <a:spcPts val="600"/>
              </a:spcAft>
              <a:buSzPct val="100000"/>
              <a:buChar char="—"/>
            </a:pPr>
            <a:r>
              <a:rPr lang="en-US" sz="1400" b="1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декабрь 1971 г.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Смитсоновское соглашение: $38 за унцию, коридор ±2,25%;</a:t>
            </a:r>
            <a:endParaRPr lang="en-US" sz="1400" dirty="0"/>
          </a:p>
          <a:p>
            <a:pPr marL="254000" indent="-254000">
              <a:spcAft>
                <a:spcPts val="600"/>
              </a:spcAft>
              <a:buSzPct val="100000"/>
              <a:buChar char="—"/>
            </a:pPr>
            <a:r>
              <a:rPr lang="en-US" sz="1400" b="1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 г.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ведущие страны перешли к плавающим курсам.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и мировая валютные системы</a:t>
            </a:r>
            <a:pPr indent="0" marL="0">
              <a:buNone/>
            </a:pPr>
            <a:r>
              <a:rPr lang="en-US" sz="1300" i="1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доклад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219895" y="256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№ 09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5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 · ЭВОЛЮЦИЯ · С 1976 Г. ПО СЕЙ ДЕНЬ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Ямайская система: четыре принципа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011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Соглашение в Кингстоне (январь 1976 г.), поправка к Уставу МВФ вступила в силу в апреле 1978 г.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606040"/>
            <a:ext cx="513572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7706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A57F2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⊕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770632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Стандарт СДР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15468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Задуман вместо золотодевизного. На деле основой стал многовалютный стандарт с доминированием доллара.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70168" y="2606040"/>
            <a:ext cx="513572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70168" y="27706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A57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7101688" y="2770632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Демонетизация золота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101688" y="315468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Отменены официальная цена золота и золотые паритеты: золото больше не мера стоимости.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85800" y="3931920"/>
            <a:ext cx="513572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40965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A57F2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⇄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096512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Свобода выбора режима курса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448056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Плавание, привязка к одной валюте или к корзине — на усмотрение страны.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370168" y="3931920"/>
            <a:ext cx="513572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70168" y="40965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A57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7101688" y="4096512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Надзор МВФ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7101688" y="448056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Фонд следит за валютной политикой стран-членов и кредитует их при кризисах.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544068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Плюс: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гибкость, курсы гасят внешние шоки.  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Минус: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волатильность и валютные кризисы — Латинская Америка 1980-х, Азия и Россия 1997–1998 гг.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и мировая валютные системы</a:t>
            </a:r>
            <a:pPr indent="0" marL="0">
              <a:buNone/>
            </a:pPr>
            <a:r>
              <a:rPr lang="en-US" sz="1300" i="1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доклад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219895" y="256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№ 10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5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III · СОВРЕМЕННОЕ СОСТОЯНИЕ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3258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Многовалютная на бумаге, долларовая на деле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6324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2000 г. доля доллара в резервах превышала 70%, сегодня — около 57%. Снижается медленно, а на валютном рынке доллар участвует примерно в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всех сделок (БМР, 2025).</a:t>
            </a:r>
            <a:endParaRPr lang="en-US" sz="1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577840" y="1234440"/>
          <a:ext cx="59436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669280" y="57150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Валютная структура мировых резервов, I кв. 2026 г., %. Источник: МВФ, COFER (30.06.2026)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и мировая валютные системы</a:t>
            </a:r>
            <a:pPr indent="0" marL="0">
              <a:buNone/>
            </a:pPr>
            <a:r>
              <a:rPr lang="en-US" sz="1300" i="1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доклад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219895" y="256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№ 11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5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III · СОВРЕМЕННОЕ СОСТОЯНИЕ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3258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СДР: корзина из пяти валют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1460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Специальные права заимствования созданы МВФ в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 г.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как дополнительный резервный актив. Юань вошёл в корзину в 2016 г. Веса пересматриваются раз в пять лет; следующий пересмотр — до конца июля 2027 г.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СДР — не валюта для частных расчётов, а счётная единица и резервный актив государств.</a:t>
            </a:r>
            <a:endParaRPr lang="en-US" sz="1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577840" y="1325880"/>
          <a:ext cx="59436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669280" y="5577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Веса валют в корзине СДР с 1 августа 2022 г., %. Источник: МВФ, пресс-релиз № 22/153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и мировая валютные системы</a:t>
            </a:r>
            <a:pPr indent="0" marL="0">
              <a:buNone/>
            </a:pPr>
            <a:r>
              <a:rPr lang="en-US" sz="1300" i="1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доклад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219895" y="256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№ 12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5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III · ТЕНДЕНЦИИ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32588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Куда движется мировая валютная система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85800" y="2331720"/>
            <a:ext cx="10820095" cy="0"/>
          </a:xfrm>
          <a:prstGeom prst="line">
            <a:avLst/>
          </a:prstGeom>
          <a:noFill/>
          <a:ln w="12700">
            <a:solidFill>
              <a:srgbClr val="1423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560320"/>
            <a:ext cx="1843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A57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200400"/>
            <a:ext cx="19811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Диверсификация резервов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977640"/>
            <a:ext cx="184397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доллара снижается, растут «нетрадиционные» валюты: канадский и австралийский доллары, юань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849819" y="2331720"/>
            <a:ext cx="0" cy="356616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32699" y="2560320"/>
            <a:ext cx="1843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A57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3032699" y="3200400"/>
            <a:ext cx="19811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Возвращение золота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032699" y="3977640"/>
            <a:ext cx="184397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Центробанки скупают золото; в 2025 г. оно обогнало гособлигации США в резервах (во многом из-за цены)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13838" y="2331720"/>
            <a:ext cx="0" cy="356616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96718" y="2560320"/>
            <a:ext cx="1843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A57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5196718" y="3200400"/>
            <a:ext cx="19811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Регионализация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196718" y="3977640"/>
            <a:ext cx="184397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Укрепляются валютные союзы: с 2026 г. в еврозоне 21 страна после вступления Болгарии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177857" y="2331720"/>
            <a:ext cx="0" cy="356616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60737" y="2560320"/>
            <a:ext cx="1843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A57F2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⇄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7360737" y="3200400"/>
            <a:ext cx="19811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Расчёты в нацвалютах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360737" y="3977640"/>
            <a:ext cx="184397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Торговля переходит на собственные валюты, строится альтернативная платёжная инфраструктура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341876" y="2331720"/>
            <a:ext cx="0" cy="356616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524756" y="2560320"/>
            <a:ext cx="18439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A57F2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◈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9524756" y="3200400"/>
            <a:ext cx="19811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Цифровые валюты ЦБ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524756" y="3977640"/>
            <a:ext cx="184397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Китай, Россия, Индия внедряют цифровую форму национальной валюты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и мировая валютные системы</a:t>
            </a:r>
            <a:pPr indent="0" marL="0">
              <a:buNone/>
            </a:pPr>
            <a:r>
              <a:rPr lang="en-US" sz="1300" i="1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доклад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219895" y="256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№ 13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5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 · РОССИЙСКАЯ ФЕДЕРАЦИЯ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325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Валютная система России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402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8000"/>
              </a:lnSpc>
              <a:spcAft>
                <a:spcPts val="1000"/>
              </a:spcAft>
              <a:buSzPct val="100000"/>
              <a:buChar char="—"/>
            </a:pPr>
            <a:r>
              <a:rPr lang="en-US" sz="1500" b="1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Валюта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рубль в трёх формах: наличной, безналичной, цифровой;</a:t>
            </a:r>
            <a:endParaRPr lang="en-US" sz="1500" dirty="0"/>
          </a:p>
          <a:p>
            <a:pPr marL="254000" indent="-254000">
              <a:lnSpc>
                <a:spcPct val="108000"/>
              </a:lnSpc>
              <a:spcAft>
                <a:spcPts val="1000"/>
              </a:spcAft>
              <a:buSzPct val="100000"/>
              <a:buChar char="—"/>
            </a:pPr>
            <a:r>
              <a:rPr lang="en-US" sz="1500" b="1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курса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плавающий с 10 ноября 2014 г., таргетирование инфляции;</a:t>
            </a:r>
            <a:endParaRPr lang="en-US" sz="1500" dirty="0"/>
          </a:p>
          <a:p>
            <a:pPr marL="254000" indent="-254000">
              <a:lnSpc>
                <a:spcPct val="108000"/>
              </a:lnSpc>
              <a:spcAft>
                <a:spcPts val="1000"/>
              </a:spcAft>
              <a:buSzPct val="100000"/>
              <a:buChar char="—"/>
            </a:pPr>
            <a:r>
              <a:rPr lang="en-US" sz="1500" b="1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Закон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173-ФЗ «О валютном регулировании и валютном контроле»;</a:t>
            </a:r>
            <a:endParaRPr lang="en-US" sz="1500" dirty="0"/>
          </a:p>
          <a:p>
            <a:pPr marL="254000" indent="-254000">
              <a:lnSpc>
                <a:spcPct val="108000"/>
              </a:lnSpc>
              <a:spcAft>
                <a:spcPts val="1000"/>
              </a:spcAft>
              <a:buSzPct val="100000"/>
              <a:buChar char="—"/>
            </a:pPr>
            <a:r>
              <a:rPr lang="en-US" sz="1500" b="1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Органы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Правительство и Банк России, ФНС, ФТС, уполномоченные банки;</a:t>
            </a:r>
            <a:endParaRPr lang="en-US" sz="1500" dirty="0"/>
          </a:p>
          <a:p>
            <a:pPr marL="254000" indent="-254000">
              <a:lnSpc>
                <a:spcPct val="108000"/>
              </a:lnSpc>
              <a:spcAft>
                <a:spcPts val="1000"/>
              </a:spcAft>
              <a:buSzPct val="100000"/>
              <a:buChar char="—"/>
            </a:pPr>
            <a:r>
              <a:rPr lang="en-US" sz="1500" b="1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Конвертируемость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полная с 2006 г., с 2022 г. ограничения по капиталу.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14173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чём оплачен экспорт России в 2025 г.</a:t>
            </a:r>
            <a:endParaRPr lang="en-US" sz="2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217920" y="1920240"/>
          <a:ext cx="5303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309360" y="47548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%, источник: Банк России (по данным «Известий», 03.03.2026). «Прочие» рассчитаны как остаток. В 2021 г. около 85% расчётов шло в западных валютах.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и мировая валютные системы</a:t>
            </a:r>
            <a:pPr indent="0" marL="0">
              <a:buNone/>
            </a:pPr>
            <a:r>
              <a:rPr lang="en-US" sz="1300" i="1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доклад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219895" y="256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№ 14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5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 · РОССИЙСКАЯ ФЕДЕРАЦИЯ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3258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Цифровой рубль — третья форма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национальной валюты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85800" y="260604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1F3EE"/>
          </a:solidFill>
          <a:ln w="12700">
            <a:solidFill>
              <a:srgbClr val="C9D1C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6060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наличные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965960" y="260604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1F3EE"/>
          </a:solidFill>
          <a:ln w="12700">
            <a:solidFill>
              <a:srgbClr val="C9D1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260604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безналичные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520440" y="260604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1F3EE"/>
          </a:solidFill>
          <a:ln w="12700">
            <a:solidFill>
              <a:srgbClr val="1E5B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20440" y="2606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5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цифровые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12344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dirty="0">
                <a:solidFill>
                  <a:srgbClr val="1E5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1</a:t>
            </a:r>
            <a:endParaRPr lang="en-US" sz="80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24231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к обычному рублю. Цифровые рубли хранятся на платформе Банка России, банки — посредники.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3886200"/>
            <a:ext cx="2705024" cy="0"/>
          </a:xfrm>
          <a:prstGeom prst="line">
            <a:avLst/>
          </a:prstGeom>
          <a:noFill/>
          <a:ln w="25400">
            <a:solidFill>
              <a:srgbClr val="1E5B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90824" y="3886200"/>
            <a:ext cx="2705024" cy="0"/>
          </a:xfrm>
          <a:prstGeom prst="line">
            <a:avLst/>
          </a:prstGeom>
          <a:noFill/>
          <a:ln w="25400">
            <a:solidFill>
              <a:srgbClr val="1E5B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95848" y="3886200"/>
            <a:ext cx="2705024" cy="0"/>
          </a:xfrm>
          <a:prstGeom prst="line">
            <a:avLst/>
          </a:prstGeom>
          <a:noFill/>
          <a:ln w="25400">
            <a:solidFill>
              <a:srgbClr val="C9D1C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800871" y="3886200"/>
            <a:ext cx="2705024" cy="0"/>
          </a:xfrm>
          <a:prstGeom prst="line">
            <a:avLst/>
          </a:prstGeom>
          <a:noFill/>
          <a:ln w="25400">
            <a:solidFill>
              <a:srgbClr val="C9D1C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5800" y="3803904"/>
            <a:ext cx="164592" cy="164592"/>
          </a:xfrm>
          <a:prstGeom prst="ellipse">
            <a:avLst/>
          </a:prstGeom>
          <a:solidFill>
            <a:srgbClr val="1E5B4A"/>
          </a:solidFill>
          <a:ln w="19050">
            <a:solidFill>
              <a:srgbClr val="1E5B4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4114800"/>
            <a:ext cx="243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24.07.2023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434840"/>
            <a:ext cx="243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Закон № 340-ФЗ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4864608"/>
            <a:ext cx="2384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Правовая основа цифрового рубля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390824" y="3803904"/>
            <a:ext cx="164592" cy="164592"/>
          </a:xfrm>
          <a:prstGeom prst="ellipse">
            <a:avLst/>
          </a:prstGeom>
          <a:solidFill>
            <a:srgbClr val="1E5B4A"/>
          </a:solidFill>
          <a:ln w="19050">
            <a:solidFill>
              <a:srgbClr val="1E5B4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390824" y="4114800"/>
            <a:ext cx="243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01.09.2026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3390824" y="4434840"/>
            <a:ext cx="243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Массовый запуск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3390824" y="4864608"/>
            <a:ext cx="2384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Крупнейшие банки и торговля с выручкой &gt; 120 млн руб. в год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095848" y="3803904"/>
            <a:ext cx="164592" cy="164592"/>
          </a:xfrm>
          <a:prstGeom prst="ellipse">
            <a:avLst/>
          </a:prstGeom>
          <a:solidFill>
            <a:srgbClr val="F1F3EE"/>
          </a:solidFill>
          <a:ln w="19050">
            <a:solidFill>
              <a:srgbClr val="C9D1C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95848" y="4114800"/>
            <a:ext cx="243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01.09.2027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095848" y="4434840"/>
            <a:ext cx="243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Вторая волна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6095848" y="4864608"/>
            <a:ext cx="2384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выручки снижается до 30 млн руб.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800871" y="3803904"/>
            <a:ext cx="164592" cy="164592"/>
          </a:xfrm>
          <a:prstGeom prst="ellipse">
            <a:avLst/>
          </a:prstGeom>
          <a:solidFill>
            <a:srgbClr val="F1F3EE"/>
          </a:solidFill>
          <a:ln w="19050">
            <a:solidFill>
              <a:srgbClr val="C9D1C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800871" y="4114800"/>
            <a:ext cx="243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01.09.2028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800871" y="4434840"/>
            <a:ext cx="243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Третья волна</a:t>
            </a:r>
            <a:endParaRPr lang="en-US" sz="1900" dirty="0"/>
          </a:p>
        </p:txBody>
      </p:sp>
      <p:sp>
        <p:nvSpPr>
          <p:cNvPr id="35" name="Text 32"/>
          <p:cNvSpPr txBox="1"/>
          <p:nvPr/>
        </p:nvSpPr>
        <p:spPr>
          <a:xfrm>
            <a:off x="8800871" y="4864608"/>
            <a:ext cx="2384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— 20 млн руб.; обязанность у всех банков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85800" y="58064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D5B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Использование цифровых валют ЦБ в трансграничных расчётах пока на стадии обсуждения.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и мировая валютные системы</a:t>
            </a:r>
            <a:pPr indent="0" marL="0">
              <a:buNone/>
            </a:pPr>
            <a:r>
              <a:rPr lang="en-US" sz="1300" i="1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доклад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219895" y="256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№ 15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5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ЗАКЛЮЧЕНИЕ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3258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85800" y="2240280"/>
            <a:ext cx="509000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441448"/>
            <a:ext cx="509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E5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— основа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926080"/>
            <a:ext cx="509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Мировая система строится на национальных, и каждому её элементу соответствует элемент национальной, но регулируемый договором государств.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15888" y="2240280"/>
            <a:ext cx="509000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5888" y="2441448"/>
            <a:ext cx="509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E5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Смена систем — ответ на кризис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6415888" y="2926080"/>
            <a:ext cx="509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Париж → Генуя → Бреттон-Вудс → Ямайка: от золотой монеты к плавающим курсам и многовалютному стандарту.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85800" y="4069080"/>
            <a:ext cx="509000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4270248"/>
            <a:ext cx="509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E5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Доллар по-прежнему в центре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4754880"/>
            <a:ext cx="509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≈57% мировых резервов и ≈89% валютных сделок — формально многовалютная система остаётся долларовой.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15888" y="4069080"/>
            <a:ext cx="5090008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15888" y="4270248"/>
            <a:ext cx="509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E5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Тренд — многополярность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6415888" y="4754880"/>
            <a:ext cx="509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Золото, региональные союзы, расчёты в нацвалютах и цифровые валюты. Россия — на острие: более половины экспорта в рублях.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Национальная и мировая валютные системы</a:t>
            </a:r>
            <a:pPr indent="0" marL="0">
              <a:buNone/>
            </a:pPr>
            <a:r>
              <a:rPr lang="en-US" sz="1300" i="1" dirty="0">
                <a:solidFill>
                  <a:srgbClr val="4D5B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доклад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219895" y="256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№ 16 / 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12191695" cy="0"/>
          </a:xfrm>
          <a:prstGeom prst="line">
            <a:avLst/>
          </a:prstGeom>
          <a:noFill/>
          <a:ln w="9525">
            <a:solidFill>
              <a:srgbClr val="C9D1C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0058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5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ИСТОЧНИКИ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3258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14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Список источников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94560"/>
            <a:ext cx="513572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Федеральный закон от 10.12.2003 № 173-ФЗ «О валютном регулировании и валютном контроле».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Федеральный закон от 10.07.2002 № 86-ФЗ «О Центральном банке Российской Федерации (Банке России)».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Федеральный закон от 24.07.2023 № 340-ФЗ (о цифровом рубле).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Международные валютно-кредитные отношения / под ред. Л. Н. Красавиной. — М. : Юрайт.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Эйхенгрин Б. Глобализация капитала: история международной денежной системы. — М. : Дело, 2009.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Эйхенгрин Б. Непомерная привилегия: взлёт и падение доллара. — М. : Изд-во Института Гайдара, 2013.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IMF. </a:t>
            </a:r>
            <a:pPr indent="0" marL="0">
              <a:lnSpc>
                <a:spcPct val="105000"/>
              </a:lnSpc>
              <a:buNone/>
            </a:pPr>
            <a:r>
              <a:rPr lang="en-US" sz="1250" u="sng" dirty="0">
                <a:solidFill>
                  <a:srgbClr val="1E5B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Currency Composition of Official Foreign Exchange Reserves, 2026Q1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370168" y="2194560"/>
            <a:ext cx="513572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IMF. </a:t>
            </a:r>
            <a:pPr indent="0" marL="0">
              <a:lnSpc>
                <a:spcPct val="105000"/>
              </a:lnSpc>
              <a:buNone/>
            </a:pPr>
            <a:r>
              <a:rPr lang="en-US" sz="1250" u="sng" dirty="0">
                <a:solidFill>
                  <a:srgbClr val="1E5B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Special Drawing Rights (SDR): Factsheet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IMF. </a:t>
            </a:r>
            <a:pPr indent="0" marL="0">
              <a:lnSpc>
                <a:spcPct val="105000"/>
              </a:lnSpc>
              <a:buNone/>
            </a:pPr>
            <a:r>
              <a:rPr lang="en-US" sz="1250" u="sng" dirty="0">
                <a:solidFill>
                  <a:srgbClr val="1E5B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Press Release No. 22/153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BIS. </a:t>
            </a:r>
            <a:pPr indent="0" marL="0">
              <a:lnSpc>
                <a:spcPct val="105000"/>
              </a:lnSpc>
              <a:buNone/>
            </a:pPr>
            <a:r>
              <a:rPr lang="en-US" sz="1250" u="sng" dirty="0">
                <a:solidFill>
                  <a:srgbClr val="1E5B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OTC foreign exchange turnover in April 2025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 России. </a:t>
            </a:r>
            <a:pPr indent="0" marL="0">
              <a:lnSpc>
                <a:spcPct val="105000"/>
              </a:lnSpc>
              <a:buNone/>
            </a:pPr>
            <a:r>
              <a:rPr lang="en-US" sz="1250" u="sng" dirty="0">
                <a:solidFill>
                  <a:srgbClr val="1E5B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Массовое внедрение цифрового рубля начнётся 1 сентября 2026 года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Известия. </a:t>
            </a:r>
            <a:pPr indent="0" marL="0">
              <a:lnSpc>
                <a:spcPct val="105000"/>
              </a:lnSpc>
              <a:buNone/>
            </a:pPr>
            <a:r>
              <a:rPr lang="en-US" sz="1250" u="sng" dirty="0">
                <a:solidFill>
                  <a:srgbClr val="1E5B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Рекордные расчёты в нацвалютах…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03.03.2026.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Коммерсантъ. </a:t>
            </a:r>
            <a:pPr indent="0" marL="0">
              <a:lnSpc>
                <a:spcPct val="105000"/>
              </a:lnSpc>
              <a:buNone/>
            </a:pPr>
            <a:r>
              <a:rPr lang="en-US" sz="1250" u="sng" dirty="0">
                <a:solidFill>
                  <a:srgbClr val="1E5B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Цифровой рубль с 1 сентября 2026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— 28.04.2026.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63A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ECB. </a:t>
            </a:r>
            <a:pPr indent="0" marL="0">
              <a:lnSpc>
                <a:spcPct val="105000"/>
              </a:lnSpc>
              <a:buNone/>
            </a:pPr>
            <a:r>
              <a:rPr lang="en-US" sz="1250" u="sng" dirty="0">
                <a:solidFill>
                  <a:srgbClr val="1E5B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Bulgaria joins the euro area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4D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Национальная и мировая валютные системы</dc:title>
  <dc:subject>Доклад · Тема 2 · Вопрос № 4</dc:subject>
  <dc:creator>PptxGenJS</dc:creator>
  <cp:lastModifiedBy>PptxGenJS</cp:lastModifiedBy>
  <cp:revision>1</cp:revision>
  <dcterms:created xsi:type="dcterms:W3CDTF">2026-09-24T14:28:26Z</dcterms:created>
  <dcterms:modified xsi:type="dcterms:W3CDTF">2026-09-24T14:28:26Z</dcterms:modified>
</cp:coreProperties>
</file>